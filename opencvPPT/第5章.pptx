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7" r:id="rId3"/>
    <p:sldId id="275" r:id="rId5"/>
    <p:sldId id="345" r:id="rId6"/>
    <p:sldId id="346" r:id="rId7"/>
    <p:sldId id="347" r:id="rId8"/>
    <p:sldId id="348" r:id="rId9"/>
    <p:sldId id="349" r:id="rId10"/>
    <p:sldId id="330" r:id="rId11"/>
    <p:sldId id="352" r:id="rId12"/>
    <p:sldId id="353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24" r:id="rId29"/>
    <p:sldId id="362" r:id="rId30"/>
    <p:sldId id="363" r:id="rId31"/>
    <p:sldId id="364" r:id="rId32"/>
    <p:sldId id="365" r:id="rId33"/>
    <p:sldId id="332" r:id="rId34"/>
    <p:sldId id="331" r:id="rId35"/>
    <p:sldId id="333" r:id="rId36"/>
    <p:sldId id="334" r:id="rId37"/>
    <p:sldId id="335" r:id="rId38"/>
    <p:sldId id="336" r:id="rId39"/>
    <p:sldId id="337" r:id="rId40"/>
    <p:sldId id="385" r:id="rId41"/>
    <p:sldId id="325" r:id="rId42"/>
    <p:sldId id="326" r:id="rId43"/>
    <p:sldId id="327" r:id="rId44"/>
    <p:sldId id="328" r:id="rId4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5AB1C69-6EDB-4FF4-983F-18BD219EF32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15" autoAdjust="0"/>
  </p:normalViewPr>
  <p:slideViewPr>
    <p:cSldViewPr>
      <p:cViewPr varScale="1">
        <p:scale>
          <a:sx n="75" d="100"/>
          <a:sy n="75" d="100"/>
        </p:scale>
        <p:origin x="82" y="11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5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jpe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0" Type="http://schemas.openxmlformats.org/officeDocument/2006/relationships/tags" Target="../tags/tag190.xml"/><Relationship Id="rId7" Type="http://schemas.openxmlformats.org/officeDocument/2006/relationships/tags" Target="../tags/tag127.xml"/><Relationship Id="rId69" Type="http://schemas.openxmlformats.org/officeDocument/2006/relationships/tags" Target="../tags/tag189.xml"/><Relationship Id="rId68" Type="http://schemas.openxmlformats.org/officeDocument/2006/relationships/tags" Target="../tags/tag188.xml"/><Relationship Id="rId67" Type="http://schemas.openxmlformats.org/officeDocument/2006/relationships/tags" Target="../tags/tag187.xml"/><Relationship Id="rId66" Type="http://schemas.openxmlformats.org/officeDocument/2006/relationships/tags" Target="../tags/tag186.xml"/><Relationship Id="rId65" Type="http://schemas.openxmlformats.org/officeDocument/2006/relationships/tags" Target="../tags/tag185.xml"/><Relationship Id="rId64" Type="http://schemas.openxmlformats.org/officeDocument/2006/relationships/tags" Target="../tags/tag184.xml"/><Relationship Id="rId63" Type="http://schemas.openxmlformats.org/officeDocument/2006/relationships/tags" Target="../tags/tag183.xml"/><Relationship Id="rId62" Type="http://schemas.openxmlformats.org/officeDocument/2006/relationships/tags" Target="../tags/tag182.xml"/><Relationship Id="rId61" Type="http://schemas.openxmlformats.org/officeDocument/2006/relationships/tags" Target="../tags/tag181.xml"/><Relationship Id="rId60" Type="http://schemas.openxmlformats.org/officeDocument/2006/relationships/tags" Target="../tags/tag180.xml"/><Relationship Id="rId6" Type="http://schemas.openxmlformats.org/officeDocument/2006/relationships/tags" Target="../tags/tag126.xml"/><Relationship Id="rId59" Type="http://schemas.openxmlformats.org/officeDocument/2006/relationships/tags" Target="../tags/tag179.xml"/><Relationship Id="rId58" Type="http://schemas.openxmlformats.org/officeDocument/2006/relationships/tags" Target="../tags/tag178.xml"/><Relationship Id="rId57" Type="http://schemas.openxmlformats.org/officeDocument/2006/relationships/tags" Target="../tags/tag177.xml"/><Relationship Id="rId56" Type="http://schemas.openxmlformats.org/officeDocument/2006/relationships/tags" Target="../tags/tag176.xml"/><Relationship Id="rId55" Type="http://schemas.openxmlformats.org/officeDocument/2006/relationships/tags" Target="../tags/tag175.xml"/><Relationship Id="rId54" Type="http://schemas.openxmlformats.org/officeDocument/2006/relationships/tags" Target="../tags/tag174.xml"/><Relationship Id="rId53" Type="http://schemas.openxmlformats.org/officeDocument/2006/relationships/tags" Target="../tags/tag173.xml"/><Relationship Id="rId52" Type="http://schemas.openxmlformats.org/officeDocument/2006/relationships/tags" Target="../tags/tag172.xml"/><Relationship Id="rId51" Type="http://schemas.openxmlformats.org/officeDocument/2006/relationships/tags" Target="../tags/tag171.xml"/><Relationship Id="rId50" Type="http://schemas.openxmlformats.org/officeDocument/2006/relationships/tags" Target="../tags/tag170.xml"/><Relationship Id="rId5" Type="http://schemas.openxmlformats.org/officeDocument/2006/relationships/image" Target="../media/image2.jpeg"/><Relationship Id="rId49" Type="http://schemas.openxmlformats.org/officeDocument/2006/relationships/tags" Target="../tags/tag169.xml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5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image" Target="../media/image1.jpeg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4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9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32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3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3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9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3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4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0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1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3.xml"/><Relationship Id="rId2" Type="http://schemas.openxmlformats.org/officeDocument/2006/relationships/image" Target="../media/image5.png"/><Relationship Id="rId1" Type="http://schemas.openxmlformats.org/officeDocument/2006/relationships/tags" Target="../tags/tag292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  <a:endParaRPr sz="6600" cap="none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725670"/>
            <a:ext cx="3504565" cy="503555"/>
          </a:xfrm>
        </p:spPr>
        <p:txBody>
          <a:bodyPr rtlCol="0">
            <a:normAutofit fontScale="70000"/>
          </a:bodyPr>
          <a:lstStyle/>
          <a:p>
            <a:pPr algn="ctr" rtl="0"/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Python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版 慕课版</a:t>
            </a:r>
            <a:endParaRPr lang="zh-CN" altLang="en-US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7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***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边缘和轮廓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边缘检测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霍夫变换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5.1.1  Laplacian边缘检测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/>
              <a:t>Laplacian（拉普拉斯）边缘检测使用图像矩阵与拉普拉斯核进行卷积运算，其本质是计算图像中任意一点与其在水平方向和垂直方向上4个相邻点平均值的差值。常用的拉普拉斯核如下。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cv2.Laplacian()函数用于实现Laplacian边缘检测，其基本格式如下。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dst=cv2.Laplacian(src,ddepth[,ksize[,scale[,delta[,borderType]]]])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dst表示边缘检测结果图像。</a:t>
            </a:r>
            <a:endParaRPr lang="zh-CN" altLang="en-US"/>
          </a:p>
          <a:p>
            <a:r>
              <a:rPr lang="zh-CN" altLang="en-US"/>
              <a:t>src为原图像。</a:t>
            </a:r>
            <a:endParaRPr lang="zh-CN" altLang="en-US"/>
          </a:p>
          <a:p>
            <a:r>
              <a:rPr lang="zh-CN" altLang="en-US"/>
              <a:t>ddepth为目标图像的深度。</a:t>
            </a:r>
            <a:endParaRPr lang="zh-CN" altLang="en-US"/>
          </a:p>
          <a:p>
            <a:r>
              <a:rPr lang="zh-CN" altLang="en-US"/>
              <a:t>ksize为用于计算二阶导数滤波器的系数，必须为正数且为奇数。</a:t>
            </a:r>
            <a:endParaRPr lang="zh-CN" altLang="en-US"/>
          </a:p>
          <a:p>
            <a:r>
              <a:rPr lang="zh-CN" altLang="en-US"/>
              <a:t>scale为可选比例因子。</a:t>
            </a:r>
            <a:endParaRPr lang="zh-CN" altLang="en-US"/>
          </a:p>
          <a:p>
            <a:r>
              <a:rPr lang="zh-CN" altLang="en-US"/>
              <a:t>delta为添加到边缘检测结果中的可选增量值。</a:t>
            </a:r>
            <a:endParaRPr lang="zh-CN" altLang="en-US"/>
          </a:p>
          <a:p>
            <a:r>
              <a:rPr lang="zh-CN" altLang="en-US"/>
              <a:t>borderType为边界值类型。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7880" y="1484630"/>
            <a:ext cx="4008755" cy="7962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#test5-1.py：拉普拉斯边缘检测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img=cv2.imread('bee.jpg')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	</a:t>
            </a:r>
            <a:r>
              <a:rPr lang="en-US" altLang="zh-CN"/>
              <a:t>	</a:t>
            </a:r>
            <a:r>
              <a:rPr lang="zh-CN" altLang="en-US"/>
              <a:t>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img2=cv2.Laplacian(img,cv2.CV_8U) 		#边缘检测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cv2.imshow('Laplacian',img2)  	     		#显示结果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5.1.2  Sobel边缘检测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Sobel边缘检测将高斯滤波和微分结合起来执行图像卷积运算，其结果具有一定的抗噪性。cv2.Sobel()函数用于实现Sobel边缘检测，其基本格式如下。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dst=cv2.Sobel(src,depth,dx,dy[,ksize[,scale[,delta[,borderType]]]])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dst表示边缘检测结果图像。</a:t>
            </a:r>
            <a:endParaRPr lang="zh-CN" altLang="en-US"/>
          </a:p>
          <a:p>
            <a:r>
              <a:rPr lang="zh-CN" altLang="en-US"/>
              <a:t>src为原图像。</a:t>
            </a:r>
            <a:endParaRPr lang="zh-CN" altLang="en-US"/>
          </a:p>
          <a:p>
            <a:r>
              <a:rPr lang="zh-CN" altLang="en-US"/>
              <a:t>depth为目标图像的深度。</a:t>
            </a:r>
            <a:endParaRPr lang="zh-CN" altLang="en-US"/>
          </a:p>
          <a:p>
            <a:r>
              <a:rPr lang="zh-CN" altLang="en-US"/>
              <a:t>dx为导数x的阶数。</a:t>
            </a:r>
            <a:endParaRPr lang="zh-CN" altLang="en-US"/>
          </a:p>
          <a:p>
            <a:r>
              <a:rPr lang="zh-CN" altLang="en-US"/>
              <a:t>dy为导数y的阶数。</a:t>
            </a:r>
            <a:endParaRPr lang="zh-CN" altLang="en-US"/>
          </a:p>
          <a:p>
            <a:r>
              <a:rPr lang="zh-CN" altLang="en-US"/>
              <a:t>ksize为扩展的Sobel内核的大小，必须是1、3、5或7。</a:t>
            </a:r>
            <a:endParaRPr lang="zh-CN" altLang="en-US"/>
          </a:p>
          <a:p>
            <a:r>
              <a:rPr lang="zh-CN" altLang="en-US"/>
              <a:t>scale为计算导数的可选比例因子。</a:t>
            </a:r>
            <a:endParaRPr lang="zh-CN" altLang="en-US"/>
          </a:p>
          <a:p>
            <a:r>
              <a:rPr lang="zh-CN" altLang="en-US"/>
              <a:t>delta为添加到边缘检测结果中的可选增量值。</a:t>
            </a:r>
            <a:endParaRPr lang="zh-CN" altLang="en-US"/>
          </a:p>
          <a:p>
            <a:r>
              <a:rPr lang="zh-CN" altLang="en-US"/>
              <a:t>borderType为边界值类型。</a:t>
            </a:r>
            <a:endParaRPr lang="zh-CN" altLang="en-US"/>
          </a:p>
          <a:p>
            <a:pPr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#test5-2.py：Sobel边缘检测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img=cv2.imread('bee.jpg')  	        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img2=cv2.Sobel(img,cv2.CV_8U,0,1)   		</a:t>
            </a:r>
            <a:r>
              <a:rPr lang="en-US" altLang="zh-CN"/>
              <a:t>	</a:t>
            </a:r>
            <a:r>
              <a:rPr lang="zh-CN" altLang="en-US"/>
              <a:t>#边缘检测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cv2.imshow('Sobel',img2)  	        		#显示结果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5.1.3  Canny边缘检测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/>
              <a:t>Laplacian边缘检测和Sobel边缘检测都是通过卷积运算来计算边缘，它们的算法比较简单，因此结果可能会损失过多的边缘信息或有很多的噪声。Canny边缘检测的算法更复杂，它包含下列5个步骤。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（1）使用高斯滤波去除图像噪声。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（2）使用Sobel核进行滤波，计算梯度。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（3）在边缘使用非最大值抑制。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（4）对检测出的边缘使用双阈值以去除假阳性。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（5）分析边缘之间的连接性，保留真正的边缘，消除不明显的边缘。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cv2.Canny()函数用于实现Canny边缘检测，其基本格式如下。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dst=cv2.Canny(src,threshold1,threshold2[,apertureSize[,L2gradient]])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dst表示边缘检测结果图像。</a:t>
            </a:r>
            <a:endParaRPr lang="zh-CN" altLang="en-US"/>
          </a:p>
          <a:p>
            <a:r>
              <a:rPr lang="zh-CN" altLang="en-US"/>
              <a:t>src为原图像。</a:t>
            </a:r>
            <a:endParaRPr lang="zh-CN" altLang="en-US"/>
          </a:p>
          <a:p>
            <a:r>
              <a:rPr lang="zh-CN" altLang="en-US"/>
              <a:t>threshold1为第1阈值。</a:t>
            </a:r>
            <a:endParaRPr lang="zh-CN" altLang="en-US"/>
          </a:p>
          <a:p>
            <a:r>
              <a:rPr lang="zh-CN" altLang="en-US"/>
              <a:t>threshold2为第2阈值。</a:t>
            </a:r>
            <a:endParaRPr lang="zh-CN" altLang="en-US"/>
          </a:p>
          <a:p>
            <a:r>
              <a:rPr lang="zh-CN" altLang="en-US"/>
              <a:t>apertureSize为计算梯度时使用的Sobel核大小。</a:t>
            </a:r>
            <a:endParaRPr lang="zh-CN" altLang="en-US"/>
          </a:p>
          <a:p>
            <a:r>
              <a:rPr lang="zh-CN" altLang="en-US"/>
              <a:t>L2gradient为标志。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#test5-3.py：Canny边缘检测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img=cv2.imread('bee.jpg')  	        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img2=cv2.Canny(img,200,300)   	#边缘检测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cv2.imshow('Canny',img2)  	        	#显示结果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5.2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查找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特征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5.2.1  查找轮廓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cv2.findContours()函数用于从二值图像中查找图像轮廓，其基本格式如下。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contours,hierarchy=cv2.findContours(image,mode,method[,offset])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contours为返回的轮廓。</a:t>
            </a:r>
            <a:endParaRPr lang="zh-CN" altLang="en-US"/>
          </a:p>
          <a:p>
            <a:r>
              <a:rPr lang="zh-CN" altLang="en-US"/>
              <a:t>hierarchy为返回的轮廓的层次结构。</a:t>
            </a:r>
            <a:endParaRPr lang="zh-CN" altLang="en-US"/>
          </a:p>
          <a:p>
            <a:r>
              <a:rPr lang="zh-CN" altLang="en-US"/>
              <a:t>image为原图像。</a:t>
            </a:r>
            <a:endParaRPr lang="zh-CN" altLang="en-US"/>
          </a:p>
          <a:p>
            <a:r>
              <a:rPr lang="zh-CN" altLang="en-US"/>
              <a:t>mode为轮廓的检索模式。</a:t>
            </a:r>
            <a:endParaRPr lang="zh-CN" altLang="en-US"/>
          </a:p>
          <a:p>
            <a:r>
              <a:rPr lang="zh-CN" altLang="en-US"/>
              <a:t>method为轮廓的近似方法。</a:t>
            </a:r>
            <a:endParaRPr lang="zh-CN" altLang="en-US"/>
          </a:p>
          <a:p>
            <a:r>
              <a:rPr lang="zh-CN" altLang="en-US"/>
              <a:t>offset为每个轮廓点移动的可选偏移量。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#test5-4.py：查找轮廓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img=cv2.imread('shapes.jpg')        				</a:t>
            </a:r>
            <a:r>
              <a:rPr lang="en-US" altLang="zh-CN"/>
              <a:t>		</a:t>
            </a:r>
            <a:r>
              <a:rPr lang="zh-CN" altLang="en-US"/>
              <a:t>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</a:t>
            </a:r>
            <a:r>
              <a:rPr lang="en-US" altLang="zh-CN"/>
              <a:t>		</a:t>
            </a:r>
            <a:r>
              <a:rPr lang="zh-CN" altLang="en-US"/>
              <a:t>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</a:t>
            </a:r>
            <a:r>
              <a:rPr lang="en-US" altLang="zh-CN"/>
              <a:t>	</a:t>
            </a:r>
            <a:r>
              <a:rPr lang="zh-CN" altLang="en-US"/>
              <a:t>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#查找轮廓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print('轮廓：',c)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print('轮廓类型：',type(c))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print('轮廓个数：',len(c))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print('层次：',h)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print('层次类型：',type(h))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for n in(range(3)):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img3=np.zeros(img.shape, np.uint8)+255 	    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cv2.polylines(img3,[c[n]],True,(255,0,0),2)	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cv2.imshow('%s' % n,img3)  	                			#显示轮廓图像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	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	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4055" y="692785"/>
            <a:ext cx="10849610" cy="59226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000"/>
              <a:t>1．cv2.findContours()函数返回结果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cv2.findContours()函数返回一个list对象，保存了轮廓数组。轮廓数组的每个元素都是一个表示轮廓的array对象；返回的轮廓层次是一个numpy.ndarray对象。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2．轮廓层次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根据轮廓的嵌套关系，可将轮廓之间的层次关系分为父级和子级，外部的轮廓为父级，内部的轮廓为子级。例如，图5-4所示的轮廓1是轮廓2的父级，轮廓0和轮廓1同级。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cv2.findContours()函数返回的轮廓层次中，numpy.ndarray对象中的每个元素表示的层次关系格式为：[下一个轮廓 前一个轮廓 第一个子级轮廓 父级轮廓]。例如，[-1 0 2 -1]中，-1表示不存在对应的轮廓，前一个轮廓在轮廓数组中的序号为0，第一个子级轮廓在轮廓数组中的序号为2。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3．轮廓的检索模式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cv2.findContours()函数中的mode参数用于设置轮廓的检索模式，不同检索模式下函数返回的轮廓有所不同。mode参数可设置为下列常数。</a:t>
            </a:r>
            <a:endParaRPr lang="zh-CN" altLang="en-US" sz="1000"/>
          </a:p>
          <a:p>
            <a:r>
              <a:rPr lang="zh-CN" altLang="en-US" sz="1000"/>
              <a:t>cv2.RETR_LIST：仅检索所有轮廓，不创建任何父子关系。</a:t>
            </a:r>
            <a:endParaRPr lang="zh-CN" altLang="en-US" sz="1000"/>
          </a:p>
          <a:p>
            <a:r>
              <a:rPr lang="zh-CN" altLang="en-US" sz="1000"/>
              <a:t>cv2.RETR_EXTERNAL：仅检索所有的外部轮廓，不包含子级轮廓。</a:t>
            </a:r>
            <a:endParaRPr lang="zh-CN" altLang="en-US" sz="1000"/>
          </a:p>
          <a:p>
            <a:r>
              <a:rPr lang="zh-CN" altLang="en-US" sz="1000"/>
              <a:t>cv2.RETR_CCOMP：检索所有轮廓并将它们排列为2级层次结构，所有的外部轮廓为1级，所有的子级轮廓为2级。</a:t>
            </a:r>
            <a:endParaRPr lang="zh-CN" altLang="en-US" sz="1000"/>
          </a:p>
          <a:p>
            <a:r>
              <a:rPr lang="zh-CN" altLang="en-US" sz="1000"/>
              <a:t>cv2.RETR_TREE：检索所有轮廓并创建完整的层次列表，如父级、子级、孙子级等。</a:t>
            </a:r>
            <a:endParaRPr lang="zh-CN" altLang="en-US" sz="1000"/>
          </a:p>
          <a:p>
            <a:pPr>
              <a:buNone/>
            </a:pPr>
            <a:r>
              <a:rPr lang="zh-CN" altLang="en-US" sz="1000"/>
              <a:t>4．轮廓的近似方法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cv2.findContours()函数中的method参数用于设置轮廓的近似方法，它用于决定如何确定轮廓包含的像素点。method参数可设置为下列常数。</a:t>
            </a:r>
            <a:endParaRPr lang="zh-CN" altLang="en-US" sz="1000"/>
          </a:p>
          <a:p>
            <a:r>
              <a:rPr lang="zh-CN" altLang="en-US" sz="1000"/>
              <a:t>cv2.CHAIN_APPROX_NONE：存储所有轮廓点，轮廓的任意两个相邻点是水平、垂直或对角线上的邻居。</a:t>
            </a:r>
            <a:endParaRPr lang="zh-CN" altLang="en-US" sz="1000"/>
          </a:p>
          <a:p>
            <a:r>
              <a:rPr lang="zh-CN" altLang="en-US" sz="1000"/>
              <a:t>cv2.CHAIN_APPROX_SIMPLE：只保存水平、垂直和对角线的端点。</a:t>
            </a:r>
            <a:endParaRPr lang="zh-CN" altLang="en-US" sz="1000"/>
          </a:p>
          <a:p>
            <a:r>
              <a:rPr lang="zh-CN" altLang="en-US" sz="1000"/>
              <a:t>cv2.CHAIN_APPROX_TC89_L1：应用Teh-Chin链逼近算法中的一种确定轮廓点。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5.2.2  绘制轮廓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cv2.drawContours()函数用于绘制轮廓，其基本格式如下。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image=cv2.drawContours(image,contours,contourIdx,color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	</a:t>
            </a:r>
            <a:r>
              <a:rPr lang="zh-CN" altLang="en-US"/>
              <a:t>[,thickness[,lineType[,hierarchy[,maxLevel[,offset]]]]])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image为在其中绘制轮廓的图像。</a:t>
            </a:r>
            <a:endParaRPr lang="zh-CN" altLang="en-US"/>
          </a:p>
          <a:p>
            <a:r>
              <a:rPr lang="zh-CN" altLang="en-US"/>
              <a:t>contours为要绘制的轮廓。</a:t>
            </a:r>
            <a:endParaRPr lang="zh-CN" altLang="en-US"/>
          </a:p>
          <a:p>
            <a:r>
              <a:rPr lang="zh-CN" altLang="en-US"/>
              <a:t>contourIdx为要绘制的轮廓的索引，大于或等于0时绘制对应的轮廓，负数（通常为-1）表示绘制所有轮廓。</a:t>
            </a:r>
            <a:endParaRPr lang="zh-CN" altLang="en-US"/>
          </a:p>
          <a:p>
            <a:r>
              <a:rPr lang="zh-CN" altLang="en-US"/>
              <a:t>color为轮廓颜色，颜色为BGR格式。</a:t>
            </a:r>
            <a:endParaRPr lang="zh-CN" altLang="en-US"/>
          </a:p>
          <a:p>
            <a:r>
              <a:rPr lang="zh-CN" altLang="en-US"/>
              <a:t>thickness为可选参数，表示绘制轮廓时画笔的粗细。</a:t>
            </a:r>
            <a:endParaRPr lang="zh-CN" altLang="en-US"/>
          </a:p>
          <a:p>
            <a:r>
              <a:rPr lang="zh-CN" altLang="en-US"/>
              <a:t>lineType为可选参数，表示绘制轮廓时使用的线型。</a:t>
            </a:r>
            <a:endParaRPr lang="zh-CN" altLang="en-US"/>
          </a:p>
          <a:p>
            <a:r>
              <a:rPr lang="zh-CN" altLang="en-US"/>
              <a:t>hierarchy为可选参数，对应cv2.findContours()函数返回的轮廓层次。</a:t>
            </a:r>
            <a:endParaRPr lang="zh-CN" altLang="en-US"/>
          </a:p>
          <a:p>
            <a:r>
              <a:rPr lang="zh-CN" altLang="en-US"/>
              <a:t>maxLevel为可选参数，表示可绘制的最大轮廓层次深度。</a:t>
            </a:r>
            <a:endParaRPr lang="zh-CN" altLang="en-US"/>
          </a:p>
          <a:p>
            <a:r>
              <a:rPr lang="zh-CN" altLang="en-US"/>
              <a:t>offset为可选参数，表示绘制轮廓的偏移位置。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#test5-5.py：绘制轮廓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img=cv2.imread('shapes.jpg')       	 	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	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		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img3=np.zeros(img.shape, np.uint8)+255 	    				#按原图大小创建一幅白色图像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img3=cv2.drawContours(img3,c,-1,(0,0,255),2)    				#绘制轮廓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cv2.imshow('Contours',img3)  	                				#显示轮廓图像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                                  					#按任意键结束等待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cv2.destroyAllWindows()                         	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5.2.3  轮廓特征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1．轮廓的矩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轮廓的矩包含了轮廓的各种几何特征，如面积、位置、角度、形状等。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cv2.moments()函数用于返回轮廓的矩，其基本格式如下。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ret=cv2.moments(array[,binaryImage])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ret为返回的轮廓矩，是一个字典对象。大多数矩的含义比较抽象，但其中的零阶矩（m00）表示轮廓的面积。</a:t>
            </a:r>
            <a:endParaRPr lang="zh-CN" altLang="en-US"/>
          </a:p>
          <a:p>
            <a:r>
              <a:rPr lang="zh-CN" altLang="en-US"/>
              <a:t>array为表示轮廓的数组。</a:t>
            </a:r>
            <a:endParaRPr lang="zh-CN" altLang="en-US"/>
          </a:p>
          <a:p>
            <a:r>
              <a:rPr lang="zh-CN" altLang="en-US"/>
              <a:t>binaryImage值为True时，会将array对象中的所有非0值设置为1。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>
                <a:sym typeface="+mn-ea"/>
              </a:rPr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#test5-6.py：轮廓的矩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import cv2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img=cv2.imread('shape2.jpg')        					#读取图像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cv2.imshow('original',img)  	    				#显示原图像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gray=cv2.cvtColor(img,cv2.COLOR_BGR2GRAY)				#将其转换为灰度图像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ret,img2=cv2.threshold(gray,125,255,cv2.THRESH_BINARY)			#二值化阈值处理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c,h=cv2.findContours(img2,cv2.RETR_TREE,cv2.CHAIN_APPROX_SIMPLE)	</a:t>
            </a:r>
            <a:r>
              <a:rPr lang="en-US" altLang="zh-CN">
                <a:sym typeface="+mn-ea"/>
              </a:rPr>
              <a:t>	</a:t>
            </a:r>
            <a:r>
              <a:rPr>
                <a:sym typeface="+mn-ea"/>
              </a:rPr>
              <a:t>#查找轮廓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img3=np.zeros(img.shape, np.uint8)+255 	    			#按原图大小创建一幅白色图像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img3=cv2.drawContours(img3,c,-1,(0,0,255),2)    				#绘制轮廓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cv2.imshow('Contours',img3)  	                				#显示轮廓图像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for n in range(len(c)):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m=cv2.moments(c[n])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print('轮廓%s的矩：'%n,m)   					#输出轮廓矩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print('轮廓%s的面积：'%n,m['m00'])   					#输出轮廓面积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cv2.waitKey(0)                                  				#按任意键结束等待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cv2.destroyAllWindows()                         				#关闭所有窗口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2．轮廓的面积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cv2.contourArea()函数用于返回轮廓面积，其基本格式如下。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ret=cv2.contourArea(contour[,oriented])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ret为返回的面积。</a:t>
            </a:r>
            <a:endParaRPr lang="zh-CN" altLang="en-US"/>
          </a:p>
          <a:p>
            <a:r>
              <a:rPr lang="zh-CN" altLang="en-US"/>
              <a:t>contour为轮廓。</a:t>
            </a:r>
            <a:endParaRPr lang="zh-CN" altLang="en-US"/>
          </a:p>
          <a:p>
            <a:r>
              <a:rPr lang="zh-CN" altLang="en-US"/>
              <a:t>oriented为可选参数。其参数值为True时，返回值的正与负表示轮廓是顺时针还是逆时针；参数值为False（默认值）时，函数返回值为绝对值。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#test5-7.py：轮廓面积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img=cv2.imread('shape2.jpg')                          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            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ret,img2=cv2.threshold(gray,125,255,cv2.THRESH_BINARY)  		#二值化阈值处理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for n in range(len(c)):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m=cv2.contourArea(c[n])             				#计算轮廓面积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print('轮廓%s的面积：'%n,m)          				#输出轮廓面积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3．轮廓的长度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cv2.arcLength()函数用于返回轮廓的长度，其基本格式如下。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ret=cv2.arcLength(contour,closed)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ret为返回的长度。</a:t>
            </a:r>
            <a:endParaRPr lang="zh-CN" altLang="en-US"/>
          </a:p>
          <a:p>
            <a:r>
              <a:rPr lang="zh-CN" altLang="en-US"/>
              <a:t>contour为轮廓。</a:t>
            </a:r>
            <a:endParaRPr lang="zh-CN" altLang="en-US"/>
          </a:p>
          <a:p>
            <a:r>
              <a:rPr lang="zh-CN" altLang="en-US"/>
              <a:t>closed为布尔值，为True时表示轮廓是封闭的。</a:t>
            </a:r>
            <a:endParaRPr lang="zh-CN" altLang="en-US"/>
          </a:p>
          <a:p>
            <a:pPr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#test5-8.py：轮廓长度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img=cv2.imread('shape2.jpg')                          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            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ret,img2=cv2.threshold(gray,125,255,cv2.THRESH_BINARY)  		#二值化阈值处理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for n in range(len(c)):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m=cv2.arcLength(c[n],True)                  			#计算轮廓长度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print('轮廓%s的长度：'%n,m)                  			#输出轮廓长度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4．轮廓的近似多边形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cv2.approxPolyDP()函数用于返回轮廓的近似多边形，其基本格式如下。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ret=cv2.approxPolyDP(contour,epsilon,closed)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ret为返回的近似多边形。</a:t>
            </a:r>
            <a:endParaRPr lang="zh-CN" altLang="en-US"/>
          </a:p>
          <a:p>
            <a:r>
              <a:rPr lang="zh-CN" altLang="en-US"/>
              <a:t>contour为轮廓。</a:t>
            </a:r>
            <a:endParaRPr lang="zh-CN" altLang="en-US"/>
          </a:p>
          <a:p>
            <a:r>
              <a:rPr lang="zh-CN" altLang="en-US"/>
              <a:t>epsilon为精度，表示近似多边形接近轮廓的最大距离。</a:t>
            </a:r>
            <a:endParaRPr lang="zh-CN" altLang="en-US"/>
          </a:p>
          <a:p>
            <a:r>
              <a:rPr lang="zh-CN" altLang="en-US"/>
              <a:t>closed为布尔值，为True时表示轮廓是封闭的。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#test5-9.py：轮廓的近似多边形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img=cv2.imread('shape3.jpg')        	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#查找轮廓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ep=[0.1,0.05,0.01]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arcl=cv2.arcLength(c[0],True)                  				#计算轮廓长度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print(arcl)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img3=cv2.drawContours(img3,c,-1,(0,0,255),2)    	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for n in range(3):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eps=ep[n]*arcl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img4=img3.copy()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app=cv2.approxPolyDP(c[0],eps,True)         				#获得近似多边形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img4=cv2.drawContours(img4,[app],-1,(255,0,0),2)    			#绘制近似轮廓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cv2.imshow('appro %.2f' % ep[n],img4)  	               		#显示轮廓图像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		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		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5．轮廓的凸包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cv2.convexHull()函数用于返回轮廓的凸包，其基本格式如下。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hull=cv2.convexHull(contour[,clockwise[,returnPoints]])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hull为返回的凸包，是一个numpy.ndarray对象，包含了凸包的关键点。</a:t>
            </a:r>
            <a:endParaRPr lang="zh-CN" altLang="en-US"/>
          </a:p>
          <a:p>
            <a:r>
              <a:rPr lang="zh-CN" altLang="en-US"/>
              <a:t>contour为轮廓。</a:t>
            </a:r>
            <a:endParaRPr lang="zh-CN" altLang="en-US"/>
          </a:p>
          <a:p>
            <a:r>
              <a:rPr lang="zh-CN" altLang="en-US"/>
              <a:t>clockwise为方向标记，为True时，凸包为顺时针方向；为False（默认值）时，凸包为逆时针方向。</a:t>
            </a:r>
            <a:endParaRPr lang="zh-CN" altLang="en-US"/>
          </a:p>
          <a:p>
            <a:r>
              <a:rPr lang="zh-CN" altLang="en-US"/>
              <a:t>returnPoints为True（默认值）时，返回的hull中包含的是凸包关键点的坐标；为False时，返回的是凸包关键点在轮廓中的索引。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#test5-10.py：轮廓的凸包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img=cv2.imread('shape3.jpg')        		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img3=cv2.drawContours(img3,c,-1,(0,0,255),2)    	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hull = cv2.convexHull(c[0])						#计算凸包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print('returnPoints=True时返回的凸包：\n ',hull)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hull2 = cv2.convexHull(c[0],returnPoints=False)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print('returnPoints=False时返回的凸包：\n ',hull2)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cv2.polylines(img3,[hull],True,(255,0,0),2)	        			#绘制凸包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cv2.imshow('Convex Hull',img3)  	                			#显示轮廓图像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6．轮廓的直边界矩形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轮廓的直边界矩形是指可容纳轮廓的矩形，且矩形的两条边必须是水平的。直边界矩形不一定是面积最小的边界矩形。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cv2.boundingRect()函数用于返回轮廓的直边界矩形，其基本格式如下。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ret=cv2.boundingRect(contour)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ret为返回的直边界矩形，它是一个四元组，其格式为(矩形左上角x坐标,矩形左上角y坐标,矩形的宽度,矩形的高度)。</a:t>
            </a:r>
            <a:endParaRPr lang="zh-CN" altLang="en-US"/>
          </a:p>
          <a:p>
            <a:r>
              <a:rPr lang="zh-CN" altLang="en-US"/>
              <a:t>contour为用于计算直边界矩形的轮廓。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#test5-11.py：轮廓的直边界矩形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c,h=cv2.findContours(img2,cv2.RETR_TREE,cv2.CHAIN_APPROX_SIMPLE)#计算轮廓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ret=cv2.boundingRect(c[0])                      				#计算直边界矩形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print('直边界矩形：\n',ret)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pt1=(ret[0],ret[1])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pt2=(ret[0]+ret[2],ret[1]+ret[3])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cv2.rectangle(img3,pt1,pt2,(255,0,0),2)             			#绘制直边界矩形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cv2.imshow('Rectangle',img3)  	                  			#显示结果图像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7．轮廓的旋转矩形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轮廓的旋转矩形是指可容纳轮廓的面积最小的矩形。cv2.minAreaRect()函数用于返回轮廓的旋转矩形，其基本格式如下。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box=cv2.minAreaRect(contour)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box为返回的旋转矩形，它是一个三元组，其格式为((矩形中心点x坐标,矩形中心点y坐标),(矩形的宽度,矩形的高度),矩形的旋转角度)。</a:t>
            </a:r>
            <a:endParaRPr lang="zh-CN" altLang="en-US"/>
          </a:p>
          <a:p>
            <a:r>
              <a:rPr lang="zh-CN" altLang="en-US"/>
              <a:t>contour为用于计算矩形的轮廓。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cv2.minAreaRect()函数的返回结果不能直接用于绘制旋转矩形，可用cv2.boxPoints()函数将其转换为矩形的顶点坐标，其基本格式如下。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points=cv2.boxPoints(box)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points为返回的矩形顶点坐标，坐标数据为浮点数。</a:t>
            </a:r>
            <a:endParaRPr lang="zh-CN" altLang="en-US"/>
          </a:p>
          <a:p>
            <a:r>
              <a:rPr lang="zh-CN" altLang="en-US"/>
              <a:t>box为cv2.minAreaRect()函数返回的矩形数据。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708" y="981083"/>
            <a:ext cx="10849411" cy="5388907"/>
          </a:xfrm>
        </p:spPr>
        <p:txBody>
          <a:bodyPr>
            <a:normAutofit fontScale="90000"/>
          </a:bodyPr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#test5-12.py：轮廓的旋转矩形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ret=cv2.minAreaRect(c[0])                      			#计算最小矩形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rect=cv2.boxPoints(ret)                             		#计算矩形顶点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rect=np.int0(rect)                                  		</a:t>
            </a:r>
            <a:r>
              <a:rPr lang="en-US" altLang="zh-CN"/>
              <a:t>	</a:t>
            </a:r>
            <a:r>
              <a:rPr lang="zh-CN" altLang="en-US"/>
              <a:t>#转换为整数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cv2.drawContours(img3,[rect],0,(255,0,0),2)        		#绘制旋转矩形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cv2.imshow('Rectangle',img3)  	                  	    	#显示结果图像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8．轮廓的最小外包圆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cv2.minEnclosingCircle()函数用于返回可容纳轮廓的最小外包圆，其基本格式如下。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center,radius=cv2.minEnclosingCircle(contour)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center为圆心。</a:t>
            </a:r>
            <a:endParaRPr lang="zh-CN" altLang="en-US"/>
          </a:p>
          <a:p>
            <a:r>
              <a:rPr lang="zh-CN" altLang="en-US"/>
              <a:t>radius为半径。</a:t>
            </a:r>
            <a:endParaRPr lang="zh-CN" altLang="en-US"/>
          </a:p>
          <a:p>
            <a:r>
              <a:rPr lang="zh-CN" altLang="en-US"/>
              <a:t>contour为用于计算最小外包圆的轮廓。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#test5-13.py：轮廓的最小外包圆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img=cv2.imread('shape4.jpg')                	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    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		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c,h=cv2.findContours(img2,cv2.RETR_TREE,cv2.CHAIN_APPROX_SIMPLE)	</a:t>
            </a:r>
            <a:r>
              <a:rPr lang="en-US" altLang="zh-CN"/>
              <a:t>	</a:t>
            </a:r>
            <a:r>
              <a:rPr lang="zh-CN" altLang="en-US"/>
              <a:t>#计算轮廓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img3=np.zeros(img.shape, np.uint8)+255 	        			#按原图大小创建一幅白色图像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cv2.drawContours(img3,c,-1,(0,0,255),2)         				#绘制轮廓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(x,y),radius=cv2.minEnclosingCircle(c[0])          				#计算最小外包圆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center = (int(x),int(y))                               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radius = int(radius)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cv2.circle(img3,center,radius,(255,0,0),2)      				#绘制最小外包圆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cv2.imshow('Circle',img3)  	                  	    		#显示结果图像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                                      				#按任意键结束等待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cv2.destroyAllWindows()                             	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9．轮廓的拟合椭圆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cv2.fitEllipse()函数用于返回轮廓的拟合椭圆，其基本格式如下。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ellipse=cv2.fitEllipse(contour)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ellipse为返回的椭圆。</a:t>
            </a:r>
            <a:endParaRPr lang="zh-CN" altLang="en-US"/>
          </a:p>
          <a:p>
            <a:r>
              <a:rPr lang="zh-CN" altLang="en-US"/>
              <a:t>contour为用于计算拟合椭圆的轮廓。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#test5-14.py：轮廓的拟合椭圆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</a:t>
            </a:r>
            <a:r>
              <a:rPr lang="en-US" altLang="zh-CN"/>
              <a:t>	</a:t>
            </a:r>
            <a:r>
              <a:rPr lang="zh-CN" altLang="en-US"/>
              <a:t>#计算轮廓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ellipse = cv2.fitEllipse(c[0])                       			</a:t>
            </a:r>
            <a:r>
              <a:rPr lang="en-US" altLang="zh-CN"/>
              <a:t>	</a:t>
            </a:r>
            <a:r>
              <a:rPr lang="zh-CN" altLang="en-US"/>
              <a:t>#计算拟合椭圆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cv2.ellipse(img3,ellipse,(255,0,0),2)           				</a:t>
            </a:r>
            <a:r>
              <a:rPr lang="en-US" altLang="zh-CN"/>
              <a:t>	</a:t>
            </a:r>
            <a:r>
              <a:rPr lang="zh-CN" altLang="en-US"/>
              <a:t>#绘制拟合椭圆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cv2.imshow('ellipse',img3)  	                  	    			#显示结果图像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</a:t>
            </a:r>
            <a:r>
              <a:rPr lang="en-US" altLang="zh-CN"/>
              <a:t>	</a:t>
            </a:r>
            <a:r>
              <a:rPr lang="zh-CN" altLang="en-US"/>
              <a:t>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10．轮廓的拟合直线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cv2.fitLine()函数用于返回轮廓的拟合直线，其基本格式如下。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line=cv2.fitLine(contour,distType,param,reps,aeps)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line为返回的拟合直线。</a:t>
            </a:r>
            <a:endParaRPr lang="zh-CN" altLang="en-US"/>
          </a:p>
          <a:p>
            <a:r>
              <a:rPr lang="zh-CN" altLang="en-US"/>
              <a:t>contour为用于计算拟合直线的轮廓。</a:t>
            </a:r>
            <a:endParaRPr lang="zh-CN" altLang="en-US"/>
          </a:p>
          <a:p>
            <a:r>
              <a:rPr lang="zh-CN" altLang="en-US"/>
              <a:t>distType为距离类型参数，决定如何计算拟合直线，可设置为下列常量。</a:t>
            </a:r>
            <a:endParaRPr lang="zh-CN" altLang="en-US"/>
          </a:p>
          <a:p>
            <a:pPr lvl="1"/>
            <a:r>
              <a:rPr lang="zh-CN" altLang="en-US"/>
              <a:t>cv2.DIST_USER：用户自定义距离。</a:t>
            </a:r>
            <a:endParaRPr lang="zh-CN" altLang="en-US"/>
          </a:p>
          <a:p>
            <a:pPr lvl="1"/>
            <a:r>
              <a:rPr lang="zh-CN" altLang="en-US"/>
              <a:t>cv2.DIST_L1：用2个点的坐标计算距离，公式为|x1-x2|+|y1-y2|。</a:t>
            </a:r>
            <a:endParaRPr lang="zh-CN" altLang="en-US"/>
          </a:p>
          <a:p>
            <a:pPr lvl="1"/>
            <a:r>
              <a:rPr lang="zh-CN" altLang="en-US"/>
              <a:t>cv2.DIST_L2：欧氏距离（两点间的直线距离）。</a:t>
            </a:r>
            <a:endParaRPr lang="zh-CN" altLang="en-US"/>
          </a:p>
          <a:p>
            <a:pPr lvl="1"/>
            <a:r>
              <a:rPr lang="zh-CN" altLang="en-US"/>
              <a:t>cv2.DIST_C：用2个点的坐标计算距离，公式为max(|x1-x2|,|y1-y2|)。</a:t>
            </a:r>
            <a:endParaRPr lang="zh-CN" altLang="en-US"/>
          </a:p>
          <a:p>
            <a:pPr lvl="1"/>
            <a:r>
              <a:rPr lang="zh-CN" altLang="en-US"/>
              <a:t>cv2.DIST_L12：用1个点的坐标计算距离，公式为2(sqrt(1+x*x/2)-1)。</a:t>
            </a:r>
            <a:endParaRPr lang="zh-CN" altLang="en-US"/>
          </a:p>
          <a:p>
            <a:pPr lvl="1"/>
            <a:r>
              <a:rPr lang="zh-CN" altLang="en-US"/>
              <a:t>cv2.DIST_FAIR：用 1 个点的坐标计算距离，公式为c^2(|x|/c-log(1+|x|/c))，c=1.3998。</a:t>
            </a:r>
            <a:endParaRPr lang="zh-CN" altLang="en-US"/>
          </a:p>
          <a:p>
            <a:pPr lvl="1"/>
            <a:r>
              <a:rPr lang="zh-CN" altLang="en-US"/>
              <a:t>cv2.DIST_WELSCH：用1个点的坐标计算距离，公式为c^2/2(1-exp(-(x/c)^2))，c=2.9846。</a:t>
            </a:r>
            <a:endParaRPr lang="zh-CN" altLang="en-US"/>
          </a:p>
          <a:p>
            <a:pPr lvl="1"/>
            <a:r>
              <a:rPr lang="zh-CN" altLang="en-US"/>
              <a:t>cv2.DIST_HUBER：用 1 个点的坐标计算距离，公式为|x|&lt;c?x^2/2:c(|x|-c/2)，c=1.345。</a:t>
            </a:r>
            <a:endParaRPr lang="zh-CN" altLang="en-US"/>
          </a:p>
          <a:p>
            <a:r>
              <a:rPr lang="zh-CN" altLang="en-US"/>
              <a:t>param为距离参数，与距离类型参数有关；其设置为0时，函数将自动选择最优值。</a:t>
            </a:r>
            <a:endParaRPr lang="zh-CN" altLang="en-US"/>
          </a:p>
          <a:p>
            <a:r>
              <a:rPr lang="zh-CN" altLang="en-US"/>
              <a:t>reps为计算拟合直线需要的径向精度，通常设置为0.01。</a:t>
            </a:r>
            <a:endParaRPr lang="zh-CN" altLang="en-US"/>
          </a:p>
          <a:p>
            <a:pPr>
              <a:buNone/>
            </a:pPr>
            <a:r>
              <a:rPr lang="zh-CN" altLang="en-US"/>
              <a:t>aeps为计算拟合直线需要的角度精度，通常设置为0.01。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290" y="443230"/>
            <a:ext cx="10849610" cy="621982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#test5-15.py：轮廓的拟合直线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img=cv2.imread('shape4.jpg')              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ret,img2=cv2.threshold(gray,125,255,cv2.THRESH_BINARY)	#二值化阈值处理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c,h=cv2.findContours(img2,cv2.RETR_TREE,cv2.CHAIN_APPROX_SIMPLE)#计算轮廓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img3=np.zeros(img.shape, np.uint8)+255 	        		#按原图大小创建一幅白色图像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cv2.drawContours(img3,c,-1,(0,0,255),2)         		#绘制轮廓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rows,cols = img.shape[:2]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[vx,vy,x,y] = cv2.fitLine(c[0], cv2.DIST_L2,0,0.01,0.01)		#计算拟合直线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lefty = int((-x*vy/vx) + y)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righty = int(((cols-x)*vy/vx)+y)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cv2.line(img3,(cols-1,righty),(0,lefty),(255,0,0),2)    		#绘制拟合直线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cv2.imshow('FitLine',img3)  	                  	    	#显示结果图像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cv2.destroyAllWindows()                             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443230"/>
            <a:ext cx="10849610" cy="6071870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zh-CN" altLang="en-US"/>
              <a:t>11．轮廓的最小外包三角形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cv2.minEnclosingTriangle()函数用于返回可容纳轮廓的最小外包三角形，其基本格式如下。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retval,triangle=cv2.minEnclosingTriangle(contour)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retval为最小外包三角形的面积。</a:t>
            </a:r>
            <a:endParaRPr lang="zh-CN" altLang="en-US"/>
          </a:p>
          <a:p>
            <a:r>
              <a:rPr lang="zh-CN" altLang="en-US"/>
              <a:t>triangle为最小外包三角形。</a:t>
            </a:r>
            <a:endParaRPr lang="zh-CN" altLang="en-US"/>
          </a:p>
          <a:p>
            <a:r>
              <a:rPr lang="zh-CN" altLang="en-US"/>
              <a:t>contour为用于计算最小外包三角形的轮廓。</a:t>
            </a:r>
            <a:endParaRPr lang="zh-CN" altLang="en-US"/>
          </a:p>
          <a:p>
            <a:pPr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#test5-16.py：轮廓的最小外包三角形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</a:t>
            </a:r>
            <a:r>
              <a:rPr lang="en-US" altLang="zh-CN"/>
              <a:t>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#将其转换为灰度图像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#二值化阈值处理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#绘制轮廓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retval,triangle=cv2.minEnclosingTriangle(c[0])			#计算最小外包三角形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triangle=np.int0(triangle)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cv2.polylines(img3,[triangle],True,(255,0,0),2)	        		#绘制最小外包三角形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cv2.imshow('Triangle',img3)  	                  	    		#显示结果图像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5.3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变换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霍夫直线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变换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霍夫</a:t>
            </a:r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圆线变换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5.3.1  霍夫直线变</a:t>
            </a:r>
            <a:r>
              <a:rPr lang="zh-CN" altLang="en-US"/>
              <a:t>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cv2.HoughLines()函数利用霍夫变换算法检测图像中的直线，其基本格式如下。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lines=cv2.HoughLines(image,rho,theta,threshold)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lines为返回的直线。</a:t>
            </a:r>
            <a:endParaRPr lang="zh-CN" altLang="en-US"/>
          </a:p>
          <a:p>
            <a:r>
              <a:rPr lang="zh-CN" altLang="en-US"/>
              <a:t>image为原图像，必须是8位的单通道二值图像，通常会在霍夫变换之前，对图像执行阈值处理或Canny边缘检测。</a:t>
            </a:r>
            <a:endParaRPr lang="zh-CN" altLang="en-US"/>
          </a:p>
          <a:p>
            <a:r>
              <a:rPr lang="zh-CN" altLang="en-US"/>
              <a:t>rho为距离的精度（以像素为单位），通常为1。</a:t>
            </a:r>
            <a:endParaRPr lang="zh-CN" altLang="en-US"/>
          </a:p>
          <a:p>
            <a:r>
              <a:rPr lang="zh-CN" altLang="en-US"/>
              <a:t>theta为角度的精度，通常使用π/180°，表示搜索所有可能的角度。</a:t>
            </a:r>
            <a:endParaRPr lang="zh-CN" altLang="en-US"/>
          </a:p>
          <a:p>
            <a:r>
              <a:rPr lang="zh-CN" altLang="en-US"/>
              <a:t>threshold为阈值，值越小，检测出的直线越多。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7810"/>
            <a:ext cx="10849610" cy="6083300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#test5-17.py：霍夫直线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img=cv2.imread('shape6.jpg')              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		</a:t>
            </a:r>
            <a:r>
              <a:rPr lang="en-US" altLang="zh-CN"/>
              <a:t>	</a:t>
            </a:r>
            <a:r>
              <a:rPr lang="zh-CN" altLang="en-US"/>
              <a:t>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edges=cv2.Canny(gray,50,150,apertureSize =3)         		#执行边缘检测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lines=cv2.HoughLines(edges,1,np.pi/180,150)             		#霍夫直线变换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img3=img.copy()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for line in lines:                                      		</a:t>
            </a:r>
            <a:r>
              <a:rPr lang="en-US" altLang="zh-CN"/>
              <a:t>	</a:t>
            </a:r>
            <a:r>
              <a:rPr lang="zh-CN" altLang="en-US"/>
              <a:t>#逐条绘制直线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rho,theta=line[0]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a=np.cos(theta)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b=np.sin(theta)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x0, y0 = a*rho, b*rho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pt1 = ( int(x0+1000*(-b)), int(y0+1000*(a)) )		</a:t>
            </a:r>
            <a:r>
              <a:rPr lang="en-US" altLang="zh-CN"/>
              <a:t>	</a:t>
            </a:r>
            <a:r>
              <a:rPr lang="zh-CN" altLang="en-US"/>
              <a:t>#计算直线端点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pt2 = ( int(x0-1000*(-b)), int(y0-1000*(a)) )			#计算直线端点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cv2.line(img3, pt1, pt2, (0,0,255), 2)			#绘制直线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cv2.imshow('HoughLines',img3)  	                  	    	#显示结果图像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cv2.destroyAllWindows()                             		</a:t>
            </a:r>
            <a:r>
              <a:rPr lang="en-US" altLang="zh-CN"/>
              <a:t>	</a:t>
            </a:r>
            <a:r>
              <a:rPr lang="zh-CN" altLang="en-US"/>
              <a:t>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cv2.HoughLinesP()函数利用概率霍夫变换算法来检测图像中的直线，其基本格式如下。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lines=cv2.HoughLinesP(image,rho,theta,threshold[,minLineLength[,maxLineGap]])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lines为返回的直线。</a:t>
            </a:r>
            <a:endParaRPr lang="zh-CN" altLang="en-US"/>
          </a:p>
          <a:p>
            <a:r>
              <a:rPr lang="zh-CN" altLang="en-US"/>
              <a:t>image为原图像，必须是8位的单通道二值图像，通常会在霍夫变换之前，对图像执行阈值处理或Canny边缘检测。</a:t>
            </a:r>
            <a:endParaRPr lang="zh-CN" altLang="en-US"/>
          </a:p>
          <a:p>
            <a:r>
              <a:rPr lang="zh-CN" altLang="en-US"/>
              <a:t>rho为距离的精度（以像素为单位），通常为1。</a:t>
            </a:r>
            <a:endParaRPr lang="zh-CN" altLang="en-US"/>
          </a:p>
          <a:p>
            <a:r>
              <a:rPr lang="zh-CN" altLang="en-US"/>
              <a:t>theta为角度的精度，通常使用π/180°，表示搜索所有可能的角度。</a:t>
            </a:r>
            <a:endParaRPr lang="zh-CN" altLang="en-US"/>
          </a:p>
          <a:p>
            <a:r>
              <a:rPr lang="zh-CN" altLang="en-US"/>
              <a:t>threshold为阈值，值越小，检测出的直线越多。</a:t>
            </a:r>
            <a:endParaRPr lang="zh-CN" altLang="en-US"/>
          </a:p>
          <a:p>
            <a:r>
              <a:rPr lang="zh-CN" altLang="en-US"/>
              <a:t>minLineLength为可接受的直线的最小长度，默认值为0。</a:t>
            </a:r>
            <a:endParaRPr lang="zh-CN" altLang="en-US"/>
          </a:p>
          <a:p>
            <a:r>
              <a:rPr lang="zh-CN" altLang="en-US"/>
              <a:t>maxLineGap为共线线段之间的最大间隔，默认值为0。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#test5-18.py：概率霍夫直线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img=cv2.imread('shape6.jpg')                	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gray=cv2.cvtColor(img,cv2.COLOR_BGR2GRAY)   			#将其转换为灰度图像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edges = cv2.Canny(gray,50,150,apertureSize =3)         		#执行边缘检测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lines=cv2.HoughLinesP(edges,1,np.pi/180,1,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           minLineLength=100,maxLineGap=10) 			#概率霍夫直线变换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img3=img.copy()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for line in lines:                                      		</a:t>
            </a:r>
            <a:r>
              <a:rPr lang="en-US" altLang="zh-CN"/>
              <a:t>	</a:t>
            </a:r>
            <a:r>
              <a:rPr lang="zh-CN" altLang="en-US"/>
              <a:t>#逐条绘制直线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x1,y1,x2,y2=line[0]   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cv2.line(img3, (x1,y1), (x2,y2), (0,0,255), 2)			#绘制直线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cv2.imshow('HoughLines',img3)  	                  	    	#显示结果图像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cv2.destroyAllWindows()                             			#关闭所有窗口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5.3.2  霍夫圆变换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cv2.HoughCircles()函数利用霍夫变换查找图像中的圆，其基本格式如下。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circles=cv2.HoughCircles(image,method,dp,minDist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[param1[,param2[,minRadius[,maxRadius]]]])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参数说明如下。</a:t>
            </a:r>
            <a:endParaRPr lang="zh-CN" altLang="en-US"/>
          </a:p>
          <a:p>
            <a:r>
              <a:rPr lang="zh-CN" altLang="en-US"/>
              <a:t>circles为返回的圆。</a:t>
            </a:r>
            <a:endParaRPr lang="zh-CN" altLang="en-US"/>
          </a:p>
          <a:p>
            <a:r>
              <a:rPr lang="zh-CN" altLang="en-US"/>
              <a:t>image为原图像，必须是8位的单通道二值图像。</a:t>
            </a:r>
            <a:endParaRPr lang="zh-CN" altLang="en-US"/>
          </a:p>
          <a:p>
            <a:r>
              <a:rPr lang="zh-CN" altLang="en-US"/>
              <a:t>method为查找方法，可设置为cv2.HOUGH_GRADIENT和cv2.HOUGH_GRADIENT _ALT。</a:t>
            </a:r>
            <a:endParaRPr lang="zh-CN" altLang="en-US"/>
          </a:p>
          <a:p>
            <a:r>
              <a:rPr lang="zh-CN" altLang="en-US"/>
              <a:t>dp 为累加器分辨率，它与图像分辨率成反比。例如，如果dp=1，则累加器与输入图像的分辨率相同；如果dp =2，则累加器的宽度和高度是输入图像的一半。</a:t>
            </a:r>
            <a:endParaRPr lang="zh-CN" altLang="en-US"/>
          </a:p>
          <a:p>
            <a:r>
              <a:rPr lang="zh-CN" altLang="en-US"/>
              <a:t>minDist为圆心间的最小距离。</a:t>
            </a:r>
            <a:endParaRPr lang="zh-CN" altLang="en-US"/>
          </a:p>
          <a:p>
            <a:r>
              <a:rPr lang="zh-CN" altLang="en-US"/>
              <a:t>param1为对应Canny边缘检测的高阈值（低阈值是高阈值的一半），默认值为100。</a:t>
            </a:r>
            <a:endParaRPr lang="zh-CN" altLang="en-US"/>
          </a:p>
          <a:p>
            <a:r>
              <a:rPr lang="zh-CN" altLang="en-US"/>
              <a:t>param2为圆心位置必须达到的投票数，值越大，检测出的圆越少，默认值为100。</a:t>
            </a:r>
            <a:endParaRPr lang="zh-CN" altLang="en-US"/>
          </a:p>
          <a:p>
            <a:r>
              <a:rPr lang="zh-CN" altLang="en-US"/>
              <a:t>minRadius为最小圆半径，半径小于该值的圆不会被检测出来。其默认值为0，此时不起作用。</a:t>
            </a:r>
            <a:endParaRPr lang="zh-CN" altLang="en-US"/>
          </a:p>
          <a:p>
            <a:r>
              <a:rPr lang="zh-CN" altLang="en-US"/>
              <a:t>maxRadius为最大圆半径，半径大于该值的圆不会被检测出来。其默认值为0，此时不起作用。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5.3.2  霍夫圆变换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6883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000"/>
              <a:t>示例代码如下。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#test5-19.py：霍夫圆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import cv2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import numpy as np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img=cv2.imread('shape6.jpg')                			#读取图像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cv2.imshow('original',img)  	            			#显示原图像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gray=cv2.cvtColor(img,cv2.COLOR_BGR2GRAY)   		#将其转换为灰度图像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edges=cv2.Canny(gray,50,150,apertureSize =3)         		#执行边缘检测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circles= cv2.HoughCircles(edges,cv2.HOUGH_GRADIENT,1,50, param2=30,minRadius=10,maxRadius=40)	#检测圆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circles = np.uint16(np.around(circles))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img2=img.copy()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for i in circles[0,:]: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    cv2.circle(img2,(i[0],i[1]),i[2],(255,0,0),2)   		#画圆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    cv2.circle(img2,(i[0],i[1]),2,(0,0,255),3)         		#画圆心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cv2.imshow('circles',img2)  	                  	    	#显示结果图像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cv2.waitKey(0)                                      		</a:t>
            </a:r>
            <a:r>
              <a:rPr lang="en-US" altLang="zh-CN" sz="1000"/>
              <a:t>	</a:t>
            </a:r>
            <a:r>
              <a:rPr lang="zh-CN" altLang="en-US" sz="1000"/>
              <a:t>#按任意键结束等待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cv2.destroyAllWindows()                             		#关闭所有窗口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5.4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实验1：执行Canny边缘检测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实验2：查找和绘制轮廓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5.4.1  实验1：执行Canny边缘检测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使用函数cv2.Canny()对图像执行Canny边缘检测操作。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原图如图5-18所示，使用函数cv2.Canny()对其执行边缘检测操作。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图5-18  边缘检测操作原图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3502025" y="2925445"/>
          <a:ext cx="11678285" cy="323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8963025" imgH="2247900" progId="Word.Document.8">
                  <p:embed/>
                </p:oleObj>
              </mc:Choice>
              <mc:Fallback>
                <p:oleObj name="" r:id="rId1" imgW="8963025" imgH="2247900" progId="Word.Document.8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2025" y="2925445"/>
                        <a:ext cx="11678285" cy="3232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5.4.2  实验2：查找和绘制轮廓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掌握查找轮廓和绘制轮廓的基本方法。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原图如图5-18所示，查找并绘制该图中的轮廓。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-2147482555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49725" y="2924810"/>
            <a:ext cx="4461510" cy="34118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73" name="矩形 72"/>
          <p:cNvSpPr/>
          <p:nvPr>
            <p:custDataLst>
              <p:tags r:id="rId2"/>
            </p:custDataLst>
          </p:nvPr>
        </p:nvSpPr>
        <p:spPr>
          <a:xfrm rot="5400000">
            <a:off x="10613165" y="5800107"/>
            <a:ext cx="112302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202X</a:t>
            </a:r>
            <a:endParaRPr lang="en-US" altLang="zh-CN" sz="2800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252.xml><?xml version="1.0" encoding="utf-8"?>
<p:tagLst xmlns:p="http://schemas.openxmlformats.org/presentationml/2006/main">
  <p:tag name="KSO_WM_TEMPLATE_CATEGORY" val=""/>
  <p:tag name="KSO_WM_TEMPLATE_INDEX" val="20202633"/>
</p:tagLst>
</file>

<file path=ppt/tags/tag253.xml><?xml version="1.0" encoding="utf-8"?>
<p:tagLst xmlns:p="http://schemas.openxmlformats.org/presentationml/2006/main">
  <p:tag name="KSO_WM_TEMPLATE_CATEGORY" val=""/>
  <p:tag name="KSO_WM_TEMPLATE_INDEX" val="20202633"/>
</p:tagLst>
</file>

<file path=ppt/tags/tag25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59.xml><?xml version="1.0" encoding="utf-8"?>
<p:tagLst xmlns:p="http://schemas.openxmlformats.org/presentationml/2006/main">
  <p:tag name="KSO_WM_TEMPLATE_CATEGORY" val=""/>
  <p:tag name="KSO_WM_TEMPLATE_INDEX" val="20202633"/>
</p:tagLst>
</file>

<file path=ppt/tags/tag26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6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7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3.xml><?xml version="1.0" encoding="utf-8"?>
<p:tagLst xmlns:p="http://schemas.openxmlformats.org/presentationml/2006/main">
  <p:tag name="KSO_WM_TEMPLATE_CATEGORY" val=""/>
  <p:tag name="KSO_WM_TEMPLATE_INDEX" val="20202633"/>
</p:tagLst>
</file>

<file path=ppt/tags/tag28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8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290.xml><?xml version="1.0" encoding="utf-8"?>
<p:tagLst xmlns:p="http://schemas.openxmlformats.org/presentationml/2006/main">
  <p:tag name="KSO_WM_TEMPLATE_CATEGORY" val=""/>
  <p:tag name="KSO_WM_TEMPLATE_INDEX" val="20202633"/>
</p:tagLst>
</file>

<file path=ppt/tags/tag291.xml><?xml version="1.0" encoding="utf-8"?>
<p:tagLst xmlns:p="http://schemas.openxmlformats.org/presentationml/2006/main">
  <p:tag name="KSO_WM_TEMPLATE_CATEGORY" val=""/>
  <p:tag name="KSO_WM_TEMPLATE_INDEX" val="20202633"/>
</p:tagLst>
</file>

<file path=ppt/tags/tag292.xml><?xml version="1.0" encoding="utf-8"?>
<p:tagLst xmlns:p="http://schemas.openxmlformats.org/presentationml/2006/main">
  <p:tag name="KSO_WM_UNIT_PLACING_PICTURE_USER_VIEWPORT" val="{&quot;height&quot;:3406,&quot;width&quot;:4454}"/>
</p:tagLst>
</file>

<file path=ppt/tags/tag293.xml><?xml version="1.0" encoding="utf-8"?>
<p:tagLst xmlns:p="http://schemas.openxmlformats.org/presentationml/2006/main">
  <p:tag name="KSO_WM_TEMPLATE_CATEGORY" val=""/>
  <p:tag name="KSO_WM_TEMPLATE_INDEX" val="20202633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i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TYPE" val="i"/>
  <p:tag name="KSO_WM_UNIT_INDEX" val="1"/>
  <p:tag name="KSO_WM_UNIT_PRESET_TEXT" val="202X"/>
</p:tagLst>
</file>

<file path=ppt/tags/tag296.xml><?xml version="1.0" encoding="utf-8"?>
<p:tagLst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19589</Words>
  <Application>WPS 演示</Application>
  <PresentationFormat>自定义</PresentationFormat>
  <Paragraphs>618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汉仪旗黑-85S</vt:lpstr>
      <vt:lpstr>方正楷体简体</vt:lpstr>
      <vt:lpstr>方正姚体</vt:lpstr>
      <vt:lpstr>Arial Unicode MS</vt:lpstr>
      <vt:lpstr>Palatino Linotype</vt:lpstr>
      <vt:lpstr>2_Office 主题​​</vt:lpstr>
      <vt:lpstr>Word.Document.8</vt:lpstr>
      <vt:lpstr>OpenCV计算机视觉基础教程</vt:lpstr>
      <vt:lpstr>第5章  边缘和轮廓</vt:lpstr>
      <vt:lpstr>5.1.1  Laplacian边缘检测</vt:lpstr>
      <vt:lpstr>PowerPoint 演示文稿</vt:lpstr>
      <vt:lpstr>5.1.2  Sobel边缘检测</vt:lpstr>
      <vt:lpstr>5.1.3  Canny边缘检测</vt:lpstr>
      <vt:lpstr>PowerPoint 演示文稿</vt:lpstr>
      <vt:lpstr>5.2 图像轮廓</vt:lpstr>
      <vt:lpstr>5.2.1  查找轮廓</vt:lpstr>
      <vt:lpstr>PowerPoint 演示文稿</vt:lpstr>
      <vt:lpstr>PowerPoint 演示文稿</vt:lpstr>
      <vt:lpstr>5.2.2  绘制轮廓</vt:lpstr>
      <vt:lpstr>PowerPoint 演示文稿</vt:lpstr>
      <vt:lpstr>5.2.3  轮廓特征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 霍夫变换</vt:lpstr>
      <vt:lpstr>5.3.1  霍夫直线变</vt:lpstr>
      <vt:lpstr>PowerPoint 演示文稿</vt:lpstr>
      <vt:lpstr>PowerPoint 演示文稿</vt:lpstr>
      <vt:lpstr>PowerPoint 演示文稿</vt:lpstr>
      <vt:lpstr>5.3.2  霍夫圆变换</vt:lpstr>
      <vt:lpstr>5.3.2  霍夫圆变换</vt:lpstr>
      <vt:lpstr>5.4 实验</vt:lpstr>
      <vt:lpstr>5.4.1  实验1：执行Canny边缘检测</vt:lpstr>
      <vt:lpstr>5.4.2  实验2：查找和绘制轮廓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小新</cp:lastModifiedBy>
  <cp:revision>29</cp:revision>
  <dcterms:created xsi:type="dcterms:W3CDTF">2019-11-26T13:46:00Z</dcterms:created>
  <dcterms:modified xsi:type="dcterms:W3CDTF">2021-06-11T14:43:48Z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2052-11.1.0.10577</vt:lpwstr>
  </property>
</Properties>
</file>