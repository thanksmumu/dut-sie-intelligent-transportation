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57" r:id="rId3"/>
    <p:sldId id="275" r:id="rId5"/>
    <p:sldId id="329" r:id="rId6"/>
    <p:sldId id="330" r:id="rId7"/>
    <p:sldId id="331" r:id="rId8"/>
    <p:sldId id="332" r:id="rId9"/>
    <p:sldId id="333" r:id="rId10"/>
    <p:sldId id="334" r:id="rId11"/>
    <p:sldId id="324" r:id="rId12"/>
    <p:sldId id="341" r:id="rId13"/>
    <p:sldId id="342" r:id="rId14"/>
    <p:sldId id="335" r:id="rId15"/>
    <p:sldId id="343" r:id="rId16"/>
    <p:sldId id="344" r:id="rId17"/>
    <p:sldId id="336" r:id="rId18"/>
    <p:sldId id="337" r:id="rId19"/>
    <p:sldId id="338" r:id="rId20"/>
    <p:sldId id="339" r:id="rId21"/>
    <p:sldId id="340" r:id="rId22"/>
    <p:sldId id="345" r:id="rId23"/>
    <p:sldId id="325" r:id="rId24"/>
    <p:sldId id="326" r:id="rId25"/>
    <p:sldId id="327" r:id="rId26"/>
    <p:sldId id="328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F5AB1C69-6EDB-4FF4-983F-18BD219EF322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15" autoAdjust="0"/>
  </p:normalViewPr>
  <p:slideViewPr>
    <p:cSldViewPr>
      <p:cViewPr varScale="1">
        <p:scale>
          <a:sx n="75" d="100"/>
          <a:sy n="75" d="100"/>
        </p:scale>
        <p:origin x="82" y="110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57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BE8D551-EAFC-440E-BE76-FE90AA8B3E59}" type="datetime1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endParaRPr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C119DBA-4540-49B3-8FA9-6259387ECF9E}" type="slidenum"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</a:fld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A1D97-EEB6-429B-AC02-D2212B4618C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3B36274-F2B9-4C45-BBB4-0EDF4CD651A7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3B36274-F2B9-4C45-BBB4-0EDF4CD651A7}" type="slidenum">
              <a:rPr lang="en-US" altLang="zh-CN" smtClean="0">
                <a:latin typeface="+mj-ea"/>
                <a:ea typeface="+mj-ea"/>
              </a:rPr>
            </a:fld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36B37-480C-4C68-8BAA-2F772309D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9" Type="http://schemas.openxmlformats.org/officeDocument/2006/relationships/tags" Target="../tags/tag67.xml"/><Relationship Id="rId68" Type="http://schemas.openxmlformats.org/officeDocument/2006/relationships/tags" Target="../tags/tag66.xml"/><Relationship Id="rId67" Type="http://schemas.openxmlformats.org/officeDocument/2006/relationships/tags" Target="../tags/tag65.xml"/><Relationship Id="rId66" Type="http://schemas.openxmlformats.org/officeDocument/2006/relationships/tags" Target="../tags/tag64.xml"/><Relationship Id="rId65" Type="http://schemas.openxmlformats.org/officeDocument/2006/relationships/tags" Target="../tags/tag63.xml"/><Relationship Id="rId64" Type="http://schemas.openxmlformats.org/officeDocument/2006/relationships/tags" Target="../tags/tag62.xml"/><Relationship Id="rId63" Type="http://schemas.openxmlformats.org/officeDocument/2006/relationships/tags" Target="../tags/tag61.xml"/><Relationship Id="rId62" Type="http://schemas.openxmlformats.org/officeDocument/2006/relationships/tags" Target="../tags/tag60.xml"/><Relationship Id="rId61" Type="http://schemas.openxmlformats.org/officeDocument/2006/relationships/tags" Target="../tags/tag59.xml"/><Relationship Id="rId60" Type="http://schemas.openxmlformats.org/officeDocument/2006/relationships/tags" Target="../tags/tag58.xml"/><Relationship Id="rId6" Type="http://schemas.openxmlformats.org/officeDocument/2006/relationships/tags" Target="../tags/tag4.xml"/><Relationship Id="rId59" Type="http://schemas.openxmlformats.org/officeDocument/2006/relationships/tags" Target="../tags/tag57.xml"/><Relationship Id="rId58" Type="http://schemas.openxmlformats.org/officeDocument/2006/relationships/tags" Target="../tags/tag56.xml"/><Relationship Id="rId57" Type="http://schemas.openxmlformats.org/officeDocument/2006/relationships/tags" Target="../tags/tag55.xml"/><Relationship Id="rId56" Type="http://schemas.openxmlformats.org/officeDocument/2006/relationships/tags" Target="../tags/tag54.xml"/><Relationship Id="rId55" Type="http://schemas.openxmlformats.org/officeDocument/2006/relationships/tags" Target="../tags/tag53.xml"/><Relationship Id="rId54" Type="http://schemas.openxmlformats.org/officeDocument/2006/relationships/tags" Target="../tags/tag52.xml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3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tags" Target="../tags/tag2.xml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image" Target="../media/image1.jpeg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0" Type="http://schemas.openxmlformats.org/officeDocument/2006/relationships/tags" Target="../tags/tag190.xml"/><Relationship Id="rId7" Type="http://schemas.openxmlformats.org/officeDocument/2006/relationships/tags" Target="../tags/tag127.xml"/><Relationship Id="rId69" Type="http://schemas.openxmlformats.org/officeDocument/2006/relationships/tags" Target="../tags/tag189.xml"/><Relationship Id="rId68" Type="http://schemas.openxmlformats.org/officeDocument/2006/relationships/tags" Target="../tags/tag188.xml"/><Relationship Id="rId67" Type="http://schemas.openxmlformats.org/officeDocument/2006/relationships/tags" Target="../tags/tag187.xml"/><Relationship Id="rId66" Type="http://schemas.openxmlformats.org/officeDocument/2006/relationships/tags" Target="../tags/tag186.xml"/><Relationship Id="rId65" Type="http://schemas.openxmlformats.org/officeDocument/2006/relationships/tags" Target="../tags/tag185.xml"/><Relationship Id="rId64" Type="http://schemas.openxmlformats.org/officeDocument/2006/relationships/tags" Target="../tags/tag184.xml"/><Relationship Id="rId63" Type="http://schemas.openxmlformats.org/officeDocument/2006/relationships/tags" Target="../tags/tag183.xml"/><Relationship Id="rId62" Type="http://schemas.openxmlformats.org/officeDocument/2006/relationships/tags" Target="../tags/tag182.xml"/><Relationship Id="rId61" Type="http://schemas.openxmlformats.org/officeDocument/2006/relationships/tags" Target="../tags/tag181.xml"/><Relationship Id="rId60" Type="http://schemas.openxmlformats.org/officeDocument/2006/relationships/tags" Target="../tags/tag180.xml"/><Relationship Id="rId6" Type="http://schemas.openxmlformats.org/officeDocument/2006/relationships/tags" Target="../tags/tag126.xml"/><Relationship Id="rId59" Type="http://schemas.openxmlformats.org/officeDocument/2006/relationships/tags" Target="../tags/tag179.xml"/><Relationship Id="rId58" Type="http://schemas.openxmlformats.org/officeDocument/2006/relationships/tags" Target="../tags/tag178.xml"/><Relationship Id="rId57" Type="http://schemas.openxmlformats.org/officeDocument/2006/relationships/tags" Target="../tags/tag177.xml"/><Relationship Id="rId56" Type="http://schemas.openxmlformats.org/officeDocument/2006/relationships/tags" Target="../tags/tag176.xml"/><Relationship Id="rId55" Type="http://schemas.openxmlformats.org/officeDocument/2006/relationships/tags" Target="../tags/tag175.xml"/><Relationship Id="rId54" Type="http://schemas.openxmlformats.org/officeDocument/2006/relationships/tags" Target="../tags/tag174.xml"/><Relationship Id="rId53" Type="http://schemas.openxmlformats.org/officeDocument/2006/relationships/tags" Target="../tags/tag173.xml"/><Relationship Id="rId52" Type="http://schemas.openxmlformats.org/officeDocument/2006/relationships/tags" Target="../tags/tag172.xml"/><Relationship Id="rId51" Type="http://schemas.openxmlformats.org/officeDocument/2006/relationships/tags" Target="../tags/tag171.xml"/><Relationship Id="rId50" Type="http://schemas.openxmlformats.org/officeDocument/2006/relationships/tags" Target="../tags/tag170.xml"/><Relationship Id="rId5" Type="http://schemas.openxmlformats.org/officeDocument/2006/relationships/image" Target="../media/image2.jpeg"/><Relationship Id="rId49" Type="http://schemas.openxmlformats.org/officeDocument/2006/relationships/tags" Target="../tags/tag169.xml"/><Relationship Id="rId48" Type="http://schemas.openxmlformats.org/officeDocument/2006/relationships/tags" Target="../tags/tag168.xml"/><Relationship Id="rId47" Type="http://schemas.openxmlformats.org/officeDocument/2006/relationships/tags" Target="../tags/tag167.xml"/><Relationship Id="rId46" Type="http://schemas.openxmlformats.org/officeDocument/2006/relationships/tags" Target="../tags/tag166.xml"/><Relationship Id="rId45" Type="http://schemas.openxmlformats.org/officeDocument/2006/relationships/tags" Target="../tags/tag165.xml"/><Relationship Id="rId44" Type="http://schemas.openxmlformats.org/officeDocument/2006/relationships/tags" Target="../tags/tag164.xml"/><Relationship Id="rId43" Type="http://schemas.openxmlformats.org/officeDocument/2006/relationships/tags" Target="../tags/tag163.xml"/><Relationship Id="rId42" Type="http://schemas.openxmlformats.org/officeDocument/2006/relationships/tags" Target="../tags/tag162.xml"/><Relationship Id="rId41" Type="http://schemas.openxmlformats.org/officeDocument/2006/relationships/tags" Target="../tags/tag161.xml"/><Relationship Id="rId40" Type="http://schemas.openxmlformats.org/officeDocument/2006/relationships/tags" Target="../tags/tag160.xml"/><Relationship Id="rId4" Type="http://schemas.openxmlformats.org/officeDocument/2006/relationships/tags" Target="../tags/tag125.xml"/><Relationship Id="rId39" Type="http://schemas.openxmlformats.org/officeDocument/2006/relationships/tags" Target="../tags/tag159.xml"/><Relationship Id="rId38" Type="http://schemas.openxmlformats.org/officeDocument/2006/relationships/tags" Target="../tags/tag158.xml"/><Relationship Id="rId37" Type="http://schemas.openxmlformats.org/officeDocument/2006/relationships/tags" Target="../tags/tag157.xml"/><Relationship Id="rId36" Type="http://schemas.openxmlformats.org/officeDocument/2006/relationships/tags" Target="../tags/tag156.xml"/><Relationship Id="rId35" Type="http://schemas.openxmlformats.org/officeDocument/2006/relationships/tags" Target="../tags/tag155.xml"/><Relationship Id="rId34" Type="http://schemas.openxmlformats.org/officeDocument/2006/relationships/tags" Target="../tags/tag154.xml"/><Relationship Id="rId33" Type="http://schemas.openxmlformats.org/officeDocument/2006/relationships/tags" Target="../tags/tag153.xml"/><Relationship Id="rId32" Type="http://schemas.openxmlformats.org/officeDocument/2006/relationships/tags" Target="../tags/tag152.xml"/><Relationship Id="rId31" Type="http://schemas.openxmlformats.org/officeDocument/2006/relationships/tags" Target="../tags/tag151.xml"/><Relationship Id="rId30" Type="http://schemas.openxmlformats.org/officeDocument/2006/relationships/tags" Target="../tags/tag150.xml"/><Relationship Id="rId3" Type="http://schemas.openxmlformats.org/officeDocument/2006/relationships/image" Target="../media/image1.jpeg"/><Relationship Id="rId29" Type="http://schemas.openxmlformats.org/officeDocument/2006/relationships/tags" Target="../tags/tag149.xml"/><Relationship Id="rId28" Type="http://schemas.openxmlformats.org/officeDocument/2006/relationships/tags" Target="../tags/tag148.xml"/><Relationship Id="rId27" Type="http://schemas.openxmlformats.org/officeDocument/2006/relationships/tags" Target="../tags/tag147.xml"/><Relationship Id="rId26" Type="http://schemas.openxmlformats.org/officeDocument/2006/relationships/tags" Target="../tags/tag146.xml"/><Relationship Id="rId25" Type="http://schemas.openxmlformats.org/officeDocument/2006/relationships/tags" Target="../tags/tag145.xml"/><Relationship Id="rId24" Type="http://schemas.openxmlformats.org/officeDocument/2006/relationships/tags" Target="../tags/tag144.xml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tags" Target="../tags/tag124.xml"/><Relationship Id="rId19" Type="http://schemas.openxmlformats.org/officeDocument/2006/relationships/tags" Target="../tags/tag139.xml"/><Relationship Id="rId18" Type="http://schemas.openxmlformats.org/officeDocument/2006/relationships/tags" Target="../tags/tag138.xml"/><Relationship Id="rId17" Type="http://schemas.openxmlformats.org/officeDocument/2006/relationships/tags" Target="../tags/tag137.xml"/><Relationship Id="rId16" Type="http://schemas.openxmlformats.org/officeDocument/2006/relationships/tags" Target="../tags/tag136.xml"/><Relationship Id="rId15" Type="http://schemas.openxmlformats.org/officeDocument/2006/relationships/tags" Target="../tags/tag135.xml"/><Relationship Id="rId14" Type="http://schemas.openxmlformats.org/officeDocument/2006/relationships/tags" Target="../tags/tag134.xml"/><Relationship Id="rId13" Type="http://schemas.openxmlformats.org/officeDocument/2006/relationships/tags" Target="../tags/tag133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0" Type="http://schemas.openxmlformats.org/officeDocument/2006/relationships/tags" Target="../tags/tag210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0" Type="http://schemas.openxmlformats.org/officeDocument/2006/relationships/tags" Target="../tags/tag21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动物&#10;&#10;已生成高可信度的说明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428513" y="419100"/>
            <a:ext cx="333288" cy="165100"/>
            <a:chOff x="428625" y="419100"/>
            <a:chExt cx="333375" cy="165100"/>
          </a:xfrm>
        </p:grpSpPr>
        <p:cxnSp>
          <p:nvCxnSpPr>
            <p:cNvPr id="7" name="直接连接符 6"/>
            <p:cNvCxnSpPr/>
            <p:nvPr userDrawn="1">
              <p:custDataLst>
                <p:tags r:id="rId5"/>
              </p:custDataLst>
            </p:nvPr>
          </p:nvCxnSpPr>
          <p:spPr>
            <a:xfrm>
              <a:off x="428625" y="4191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>
              <p:custDataLst>
                <p:tags r:id="rId6"/>
              </p:custDataLst>
            </p:nvPr>
          </p:nvCxnSpPr>
          <p:spPr>
            <a:xfrm>
              <a:off x="428625" y="50165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 userDrawn="1">
              <p:custDataLst>
                <p:tags r:id="rId7"/>
              </p:custDataLst>
            </p:nvPr>
          </p:nvCxnSpPr>
          <p:spPr>
            <a:xfrm>
              <a:off x="428625" y="5842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7244861" y="6375400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>
            <p:custDataLst>
              <p:tags r:id="rId9"/>
            </p:custDataLst>
          </p:nvPr>
        </p:nvGrpSpPr>
        <p:grpSpPr>
          <a:xfrm>
            <a:off x="910988" y="4845050"/>
            <a:ext cx="1807689" cy="319882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27" name="椭圆 126"/>
            <p:cNvSpPr/>
            <p:nvPr>
              <p:custDataLst>
                <p:tags r:id="rId10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>
              <p:custDataLst>
                <p:tags r:id="rId11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>
              <p:custDataLst>
                <p:tags r:id="rId12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>
              <p:custDataLst>
                <p:tags r:id="rId13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>
              <p:custDataLst>
                <p:tags r:id="rId14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>
              <p:custDataLst>
                <p:tags r:id="rId15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>
              <p:custDataLst>
                <p:tags r:id="rId16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>
              <p:custDataLst>
                <p:tags r:id="rId17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>
              <p:custDataLst>
                <p:tags r:id="rId18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>
              <p:custDataLst>
                <p:tags r:id="rId19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>
              <p:custDataLst>
                <p:tags r:id="rId20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>
              <p:custDataLst>
                <p:tags r:id="rId21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>
              <p:custDataLst>
                <p:tags r:id="rId22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>
              <p:custDataLst>
                <p:tags r:id="rId23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>
              <p:custDataLst>
                <p:tags r:id="rId24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>
              <p:custDataLst>
                <p:tags r:id="rId25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>
              <p:custDataLst>
                <p:tags r:id="rId26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>
              <p:custDataLst>
                <p:tags r:id="rId27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>
              <p:custDataLst>
                <p:tags r:id="rId28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>
              <p:custDataLst>
                <p:tags r:id="rId29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>
              <p:custDataLst>
                <p:tags r:id="rId30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>
              <p:custDataLst>
                <p:tags r:id="rId31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9" name="组合 218"/>
          <p:cNvGrpSpPr/>
          <p:nvPr>
            <p:custDataLst>
              <p:tags r:id="rId32"/>
            </p:custDataLst>
          </p:nvPr>
        </p:nvGrpSpPr>
        <p:grpSpPr>
          <a:xfrm>
            <a:off x="10219095" y="488763"/>
            <a:ext cx="1286332" cy="891382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151" name="椭圆 150"/>
            <p:cNvSpPr/>
            <p:nvPr>
              <p:custDataLst>
                <p:tags r:id="rId33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/>
            <p:cNvSpPr/>
            <p:nvPr>
              <p:custDataLst>
                <p:tags r:id="rId34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/>
            <p:cNvSpPr/>
            <p:nvPr>
              <p:custDataLst>
                <p:tags r:id="rId35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椭圆 153"/>
            <p:cNvSpPr/>
            <p:nvPr>
              <p:custDataLst>
                <p:tags r:id="rId36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/>
            <p:cNvSpPr/>
            <p:nvPr>
              <p:custDataLst>
                <p:tags r:id="rId37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/>
            <p:cNvSpPr/>
            <p:nvPr>
              <p:custDataLst>
                <p:tags r:id="rId38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/>
            <p:cNvSpPr/>
            <p:nvPr>
              <p:custDataLst>
                <p:tags r:id="rId39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/>
            <p:cNvSpPr/>
            <p:nvPr>
              <p:custDataLst>
                <p:tags r:id="rId40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椭圆 158"/>
            <p:cNvSpPr/>
            <p:nvPr>
              <p:custDataLst>
                <p:tags r:id="rId41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椭圆 159"/>
            <p:cNvSpPr/>
            <p:nvPr>
              <p:custDataLst>
                <p:tags r:id="rId42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/>
            <p:cNvSpPr/>
            <p:nvPr>
              <p:custDataLst>
                <p:tags r:id="rId43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椭圆 161"/>
            <p:cNvSpPr/>
            <p:nvPr>
              <p:custDataLst>
                <p:tags r:id="rId44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椭圆 162"/>
            <p:cNvSpPr/>
            <p:nvPr>
              <p:custDataLst>
                <p:tags r:id="rId45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椭圆 163"/>
            <p:cNvSpPr/>
            <p:nvPr>
              <p:custDataLst>
                <p:tags r:id="rId46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/>
            <p:cNvSpPr/>
            <p:nvPr>
              <p:custDataLst>
                <p:tags r:id="rId47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/>
            <p:cNvSpPr/>
            <p:nvPr>
              <p:custDataLst>
                <p:tags r:id="rId48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/>
            <p:cNvSpPr/>
            <p:nvPr>
              <p:custDataLst>
                <p:tags r:id="rId49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/>
            <p:cNvSpPr/>
            <p:nvPr>
              <p:custDataLst>
                <p:tags r:id="rId50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/>
            <p:cNvSpPr/>
            <p:nvPr>
              <p:custDataLst>
                <p:tags r:id="rId51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/>
            <p:cNvSpPr/>
            <p:nvPr>
              <p:custDataLst>
                <p:tags r:id="rId52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椭圆 177"/>
            <p:cNvSpPr/>
            <p:nvPr>
              <p:custDataLst>
                <p:tags r:id="rId53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椭圆 178"/>
            <p:cNvSpPr/>
            <p:nvPr>
              <p:custDataLst>
                <p:tags r:id="rId54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椭圆 179"/>
            <p:cNvSpPr/>
            <p:nvPr>
              <p:custDataLst>
                <p:tags r:id="rId55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椭圆 180"/>
            <p:cNvSpPr/>
            <p:nvPr>
              <p:custDataLst>
                <p:tags r:id="rId56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椭圆 181"/>
            <p:cNvSpPr/>
            <p:nvPr>
              <p:custDataLst>
                <p:tags r:id="rId57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>
              <p:custDataLst>
                <p:tags r:id="rId58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椭圆 183"/>
            <p:cNvSpPr/>
            <p:nvPr>
              <p:custDataLst>
                <p:tags r:id="rId59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椭圆 184"/>
            <p:cNvSpPr/>
            <p:nvPr>
              <p:custDataLst>
                <p:tags r:id="rId60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椭圆 185"/>
            <p:cNvSpPr/>
            <p:nvPr>
              <p:custDataLst>
                <p:tags r:id="rId61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椭圆 186"/>
            <p:cNvSpPr/>
            <p:nvPr>
              <p:custDataLst>
                <p:tags r:id="rId62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椭圆 187"/>
            <p:cNvSpPr/>
            <p:nvPr>
              <p:custDataLst>
                <p:tags r:id="rId63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/>
            <p:cNvSpPr/>
            <p:nvPr>
              <p:custDataLst>
                <p:tags r:id="rId64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5"/>
            </p:custDataLst>
          </p:nvPr>
        </p:nvSpPr>
        <p:spPr>
          <a:xfrm>
            <a:off x="669707" y="3182448"/>
            <a:ext cx="9435117" cy="1451463"/>
          </a:xfrm>
        </p:spPr>
        <p:txBody>
          <a:bodyPr lIns="90170" tIns="46990" rIns="36000" bIns="46990" anchor="t" anchorCtr="0">
            <a:normAutofit/>
          </a:bodyPr>
          <a:lstStyle>
            <a:lvl1pPr algn="dist">
              <a:defRPr sz="8000" spc="600" baseline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66"/>
            </p:custDataLst>
          </p:nvPr>
        </p:nvSpPr>
        <p:spPr>
          <a:xfrm>
            <a:off x="669707" y="5315574"/>
            <a:ext cx="6456312" cy="503238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708" y="952508"/>
            <a:ext cx="10849411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-6348" y="-15240"/>
            <a:ext cx="12207870" cy="6892290"/>
            <a:chOff x="-6350" y="-15240"/>
            <a:chExt cx="12211050" cy="6892290"/>
          </a:xfrm>
        </p:grpSpPr>
        <p:sp>
          <p:nvSpPr>
            <p:cNvPr id="7" name="任意多边形: 形状 6"/>
            <p:cNvSpPr/>
            <p:nvPr userDrawn="1">
              <p:custDataLst>
                <p:tags r:id="rId3"/>
              </p:custDataLst>
            </p:nvPr>
          </p:nvSpPr>
          <p:spPr>
            <a:xfrm>
              <a:off x="-6350" y="6184900"/>
              <a:ext cx="12211050" cy="69215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1090">
                  <a:moveTo>
                    <a:pt x="5210" y="0"/>
                  </a:moveTo>
                  <a:cubicBezTo>
                    <a:pt x="7603" y="0"/>
                    <a:pt x="11560" y="660"/>
                    <a:pt x="13490" y="680"/>
                  </a:cubicBezTo>
                  <a:cubicBezTo>
                    <a:pt x="15420" y="700"/>
                    <a:pt x="15577" y="187"/>
                    <a:pt x="16790" y="120"/>
                  </a:cubicBezTo>
                  <a:cubicBezTo>
                    <a:pt x="17700" y="70"/>
                    <a:pt x="18616" y="238"/>
                    <a:pt x="19212" y="412"/>
                  </a:cubicBezTo>
                  <a:lnTo>
                    <a:pt x="19230" y="417"/>
                  </a:lnTo>
                  <a:lnTo>
                    <a:pt x="19230" y="1090"/>
                  </a:lnTo>
                  <a:lnTo>
                    <a:pt x="0" y="1090"/>
                  </a:lnTo>
                  <a:lnTo>
                    <a:pt x="0" y="641"/>
                  </a:lnTo>
                  <a:lnTo>
                    <a:pt x="10" y="640"/>
                  </a:lnTo>
                  <a:cubicBezTo>
                    <a:pt x="1033" y="473"/>
                    <a:pt x="3036" y="0"/>
                    <a:pt x="521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4"/>
              </p:custDataLst>
            </p:nvPr>
          </p:nvSpPr>
          <p:spPr>
            <a:xfrm flipH="1" flipV="1">
              <a:off x="-6350" y="-15240"/>
              <a:ext cx="12211050" cy="57404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904">
                  <a:moveTo>
                    <a:pt x="5020" y="0"/>
                  </a:moveTo>
                  <a:cubicBezTo>
                    <a:pt x="7413" y="0"/>
                    <a:pt x="11370" y="660"/>
                    <a:pt x="13300" y="680"/>
                  </a:cubicBezTo>
                  <a:cubicBezTo>
                    <a:pt x="15230" y="700"/>
                    <a:pt x="15387" y="187"/>
                    <a:pt x="16600" y="120"/>
                  </a:cubicBezTo>
                  <a:cubicBezTo>
                    <a:pt x="17605" y="65"/>
                    <a:pt x="18616" y="275"/>
                    <a:pt x="19198" y="466"/>
                  </a:cubicBezTo>
                  <a:lnTo>
                    <a:pt x="19230" y="477"/>
                  </a:lnTo>
                  <a:lnTo>
                    <a:pt x="19230" y="904"/>
                  </a:lnTo>
                  <a:lnTo>
                    <a:pt x="0" y="904"/>
                  </a:lnTo>
                  <a:lnTo>
                    <a:pt x="0" y="609"/>
                  </a:lnTo>
                  <a:lnTo>
                    <a:pt x="22" y="605"/>
                  </a:lnTo>
                  <a:cubicBezTo>
                    <a:pt x="1094" y="416"/>
                    <a:pt x="2982" y="0"/>
                    <a:pt x="502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304433" y="2554514"/>
            <a:ext cx="4896453" cy="80874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304678" y="3425190"/>
            <a:ext cx="4896480" cy="1579245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756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7252" y="952508"/>
            <a:ext cx="5281866" cy="5388907"/>
          </a:xfrm>
        </p:spPr>
        <p:txBody>
          <a:bodyPr lIns="90170" tIns="46990" rIns="90170" bIns="46990">
            <a:normAutofit/>
          </a:bodyPr>
          <a:lstStyle>
            <a:lvl1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756" y="952508"/>
            <a:ext cx="5281866" cy="381003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751" y="1406525"/>
            <a:ext cx="5281824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4126" y="952508"/>
            <a:ext cx="5281866" cy="381003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4126" y="1406525"/>
            <a:ext cx="5281866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6"/>
          <p:cNvSpPr/>
          <p:nvPr>
            <p:custDataLst>
              <p:tags r:id="rId2"/>
            </p:custDataLst>
          </p:nvPr>
        </p:nvSpPr>
        <p:spPr>
          <a:xfrm>
            <a:off x="-6348" y="6184900"/>
            <a:ext cx="12207870" cy="6921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56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756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7300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10568382" y="952508"/>
            <a:ext cx="950736" cy="5388907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669751" y="952500"/>
            <a:ext cx="9825542" cy="5388907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69756" y="952508"/>
            <a:ext cx="10849411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图片 69" descr="图片包含 动物&#10;&#10;已生成高可信度的说明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pic>
        <p:nvPicPr>
          <p:cNvPr id="7" name="图片 6" descr="图片包含 动物&#10;&#10;已生成高可信度的说明" hidden="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428513" y="41910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428513" y="50165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8"/>
            </p:custDataLst>
          </p:nvPr>
        </p:nvCxnSpPr>
        <p:spPr>
          <a:xfrm>
            <a:off x="428513" y="58420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7244861" y="6375400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>
            <p:custDataLst>
              <p:tags r:id="rId10"/>
            </p:custDataLst>
          </p:nvPr>
        </p:nvGrpSpPr>
        <p:grpSpPr>
          <a:xfrm>
            <a:off x="910988" y="4672608"/>
            <a:ext cx="1807689" cy="319882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5" name="椭圆 14"/>
            <p:cNvSpPr/>
            <p:nvPr>
              <p:custDataLst>
                <p:tags r:id="rId11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12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椭圆 16"/>
            <p:cNvSpPr/>
            <p:nvPr>
              <p:custDataLst>
                <p:tags r:id="rId13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14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椭圆 18"/>
            <p:cNvSpPr/>
            <p:nvPr>
              <p:custDataLst>
                <p:tags r:id="rId15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16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17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8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19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20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21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22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23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24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椭圆 28"/>
            <p:cNvSpPr/>
            <p:nvPr>
              <p:custDataLst>
                <p:tags r:id="rId25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26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椭圆 30"/>
            <p:cNvSpPr/>
            <p:nvPr>
              <p:custDataLst>
                <p:tags r:id="rId27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28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29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30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31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32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33"/>
            </p:custDataLst>
          </p:nvPr>
        </p:nvGrpSpPr>
        <p:grpSpPr>
          <a:xfrm>
            <a:off x="9958006" y="482599"/>
            <a:ext cx="1286332" cy="891382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38" name="椭圆 37"/>
            <p:cNvSpPr/>
            <p:nvPr>
              <p:custDataLst>
                <p:tags r:id="rId34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>
              <p:custDataLst>
                <p:tags r:id="rId35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36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37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>
              <p:custDataLst>
                <p:tags r:id="rId38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>
              <p:custDataLst>
                <p:tags r:id="rId39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>
              <p:custDataLst>
                <p:tags r:id="rId40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41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>
              <p:custDataLst>
                <p:tags r:id="rId42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>
              <p:custDataLst>
                <p:tags r:id="rId43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>
              <p:custDataLst>
                <p:tags r:id="rId44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>
              <p:custDataLst>
                <p:tags r:id="rId45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>
              <p:custDataLst>
                <p:tags r:id="rId46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>
              <p:custDataLst>
                <p:tags r:id="rId47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>
              <p:custDataLst>
                <p:tags r:id="rId48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>
              <p:custDataLst>
                <p:tags r:id="rId49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>
              <p:custDataLst>
                <p:tags r:id="rId50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>
              <p:custDataLst>
                <p:tags r:id="rId51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>
              <p:custDataLst>
                <p:tags r:id="rId52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>
              <p:custDataLst>
                <p:tags r:id="rId53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>
              <p:custDataLst>
                <p:tags r:id="rId54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>
              <p:custDataLst>
                <p:tags r:id="rId55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>
              <p:custDataLst>
                <p:tags r:id="rId56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>
              <p:custDataLst>
                <p:tags r:id="rId57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>
              <p:custDataLst>
                <p:tags r:id="rId58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>
              <p:custDataLst>
                <p:tags r:id="rId59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>
              <p:custDataLst>
                <p:tags r:id="rId60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>
              <p:custDataLst>
                <p:tags r:id="rId61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>
              <p:custDataLst>
                <p:tags r:id="rId62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>
              <p:custDataLst>
                <p:tags r:id="rId63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>
              <p:custDataLst>
                <p:tags r:id="rId64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>
              <p:custDataLst>
                <p:tags r:id="rId65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6"/>
            </p:custDataLst>
          </p:nvPr>
        </p:nvSpPr>
        <p:spPr>
          <a:xfrm>
            <a:off x="761802" y="2050908"/>
            <a:ext cx="7001319" cy="1950414"/>
          </a:xfrm>
        </p:spPr>
        <p:txBody>
          <a:bodyPr vert="horz" lIns="9017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1495" b="1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72" name="文本占位符 71"/>
          <p:cNvSpPr>
            <a:spLocks noGrp="1"/>
          </p:cNvSpPr>
          <p:nvPr>
            <p:ph type="body" sz="quarter" idx="13" hasCustomPrompt="1"/>
            <p:custDataLst>
              <p:tags r:id="rId67"/>
            </p:custDataLst>
          </p:nvPr>
        </p:nvSpPr>
        <p:spPr>
          <a:xfrm>
            <a:off x="761802" y="5172672"/>
            <a:ext cx="6454364" cy="543560"/>
          </a:xfrm>
        </p:spPr>
        <p:txBody>
          <a:bodyPr lIns="90170" tIns="46990" rIns="90170" bIns="4699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266" y="1249200"/>
            <a:ext cx="9623893" cy="723600"/>
          </a:xfrm>
        </p:spPr>
        <p:txBody>
          <a:bodyPr anchor="ctr"/>
          <a:lstStyle>
            <a:lvl1pPr>
              <a:defRPr sz="3200"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0779" y="2163600"/>
            <a:ext cx="9624093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204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9" name="任意多边形: 形状 18"/>
          <p:cNvSpPr/>
          <p:nvPr>
            <p:custDataLst>
              <p:tags r:id="rId3"/>
            </p:custDataLst>
          </p:nvPr>
        </p:nvSpPr>
        <p:spPr>
          <a:xfrm rot="16200000">
            <a:off x="8567093" y="3243580"/>
            <a:ext cx="6882242" cy="3619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4"/>
            </p:custDataLst>
          </p:nvPr>
        </p:nvSpPr>
        <p:spPr>
          <a:xfrm rot="2955020">
            <a:off x="-241237" y="-112395"/>
            <a:ext cx="1013831" cy="7473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048" y="770400"/>
            <a:ext cx="3958969" cy="882000"/>
          </a:xfrm>
        </p:spPr>
        <p:txBody>
          <a:bodyPr anchor="ctr"/>
          <a:lstStyle>
            <a:lvl1pPr>
              <a:defRPr sz="3600" baseline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647" y="1764000"/>
            <a:ext cx="395537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099872" y="769938"/>
            <a:ext cx="6478313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2" name="矩形: 圆角 31"/>
          <p:cNvSpPr/>
          <p:nvPr>
            <p:custDataLst>
              <p:tags r:id="rId3"/>
            </p:custDataLst>
          </p:nvPr>
        </p:nvSpPr>
        <p:spPr>
          <a:xfrm rot="2955020">
            <a:off x="-241470" y="-112084"/>
            <a:ext cx="1014111" cy="7471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>
            <p:custDataLst>
              <p:tags r:id="rId4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1841" y="781200"/>
            <a:ext cx="10973542" cy="626400"/>
          </a:xfrm>
        </p:spPr>
        <p:txBody>
          <a:bodyPr anchor="ctr"/>
          <a:lstStyle>
            <a:lvl1pPr algn="ctr">
              <a:defRPr sz="36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1841" y="1659600"/>
            <a:ext cx="10973117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615" y="2808000"/>
            <a:ext cx="10962744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88825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tx2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643" y="669600"/>
            <a:ext cx="10973542" cy="565200"/>
          </a:xfrm>
        </p:spPr>
        <p:txBody>
          <a:bodyPr anchor="ctr"/>
          <a:lstStyle>
            <a:lvl1pPr algn="ctr">
              <a:defRPr sz="32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679" y="1681200"/>
            <a:ext cx="10987938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3845" y="5180400"/>
            <a:ext cx="10998735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任意多边形: 形状 21"/>
          <p:cNvSpPr/>
          <p:nvPr>
            <p:custDataLst>
              <p:tags r:id="rId9"/>
            </p:custDataLst>
          </p:nvPr>
        </p:nvSpPr>
        <p:spPr>
          <a:xfrm flipH="1" flipV="1">
            <a:off x="-6348" y="-15240"/>
            <a:ext cx="12207870" cy="493473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0"/>
            <a:ext cx="12188825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449" y="237600"/>
            <a:ext cx="11034726" cy="441964"/>
          </a:xfrm>
        </p:spPr>
        <p:txBody>
          <a:bodyPr>
            <a:noAutofit/>
          </a:bodyPr>
          <a:lstStyle>
            <a:lvl1pPr>
              <a:defRPr sz="24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449" y="1663200"/>
            <a:ext cx="5341009" cy="28944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0774" y="1663200"/>
            <a:ext cx="5366202" cy="28944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251" y="4816800"/>
            <a:ext cx="5341009" cy="78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1572" y="4813200"/>
            <a:ext cx="5366202" cy="78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-1270" y="959224"/>
            <a:ext cx="12188825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9" name="任意多边形: 形状 28"/>
          <p:cNvSpPr/>
          <p:nvPr>
            <p:custDataLst>
              <p:tags r:id="rId3"/>
            </p:custDataLst>
          </p:nvPr>
        </p:nvSpPr>
        <p:spPr>
          <a:xfrm>
            <a:off x="-6348" y="6184900"/>
            <a:ext cx="12207870" cy="6921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: 形状 29"/>
          <p:cNvSpPr/>
          <p:nvPr>
            <p:custDataLst>
              <p:tags r:id="rId4"/>
            </p:custDataLst>
          </p:nvPr>
        </p:nvSpPr>
        <p:spPr>
          <a:xfrm flipH="1" flipV="1">
            <a:off x="-6348" y="-15240"/>
            <a:ext cx="12207870" cy="57404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403" y="1339200"/>
            <a:ext cx="9141619" cy="2386800"/>
          </a:xfrm>
        </p:spPr>
        <p:txBody>
          <a:bodyPr anchor="b"/>
          <a:lstStyle>
            <a:lvl1pPr algn="ctr">
              <a:defRPr sz="60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017" y="3862800"/>
            <a:ext cx="9141619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tags" Target="../tags/tag251.xml"/><Relationship Id="rId25" Type="http://schemas.openxmlformats.org/officeDocument/2006/relationships/tags" Target="../tags/tag250.xml"/><Relationship Id="rId24" Type="http://schemas.openxmlformats.org/officeDocument/2006/relationships/tags" Target="../tags/tag249.xml"/><Relationship Id="rId23" Type="http://schemas.openxmlformats.org/officeDocument/2006/relationships/tags" Target="../tags/tag248.xml"/><Relationship Id="rId22" Type="http://schemas.openxmlformats.org/officeDocument/2006/relationships/tags" Target="../tags/tag247.xml"/><Relationship Id="rId21" Type="http://schemas.openxmlformats.org/officeDocument/2006/relationships/tags" Target="../tags/tag246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708" y="443230"/>
            <a:ext cx="10849411" cy="441964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708" y="952508"/>
            <a:ext cx="10849411" cy="5388907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513" y="6349833"/>
            <a:ext cx="269929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4928" y="6349833"/>
            <a:ext cx="395896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08358" y="6349833"/>
            <a:ext cx="269929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1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090" algn="l"/>
        </a:tabLst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5995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3.xm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4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tags" Target="../tags/tag2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9925" y="3182620"/>
            <a:ext cx="10711180" cy="1451610"/>
          </a:xfrm>
        </p:spPr>
        <p:txBody>
          <a:bodyPr rtlCol="0">
            <a:normAutofit fontScale="90000"/>
          </a:bodyPr>
          <a:lstStyle/>
          <a:p>
            <a:pPr rtl="0"/>
            <a:r>
              <a:rPr sz="6600" cap="none" dirty="0">
                <a:latin typeface="方正姚体" panose="02010601030101010101" pitchFamily="2" charset="-122"/>
                <a:ea typeface="方正姚体" panose="02010601030101010101" pitchFamily="2" charset="-122"/>
              </a:rPr>
              <a:t>OpenCV计算机视觉基础教程</a:t>
            </a:r>
            <a:endParaRPr sz="6600" cap="none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342130" y="4725670"/>
            <a:ext cx="3504565" cy="503555"/>
          </a:xfrm>
        </p:spPr>
        <p:txBody>
          <a:bodyPr rtlCol="0">
            <a:normAutofit fontScale="70000"/>
          </a:bodyPr>
          <a:lstStyle/>
          <a:p>
            <a:pPr algn="ctr" rtl="0"/>
            <a:r>
              <a:rPr lang="en-US" altLang="zh-CN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Python</a:t>
            </a:r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版 慕课版</a:t>
            </a:r>
            <a:endParaRPr lang="zh-CN" altLang="en-US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7318375" y="5876925"/>
            <a:ext cx="3504565" cy="50355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70000"/>
          </a:bodyPr>
          <a:lstStyle>
            <a:lvl1pPr marL="0" indent="0" algn="di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u="none" strike="noStrike" kern="1200" cap="none" spc="1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599565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6765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39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主讲教师：</a:t>
            </a:r>
            <a:r>
              <a:rPr lang="en-US" altLang="zh-CN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***</a:t>
            </a:r>
            <a:endParaRPr lang="en-US" altLang="zh-CN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第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9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章 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  人脸检测和识别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人脸检测是指在图像中完成人脸定位的过程。人脸识别是在人脸检测的基础上进一步判断人的身份。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本章主要内容：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人脸检测</a:t>
            </a:r>
            <a:endParaRPr>
              <a:latin typeface="方正姚体" panose="02010601030101010101" pitchFamily="2" charset="-122"/>
              <a:ea typeface="方正姚体" panose="02010601030101010101" pitchFamily="2" charset="-122"/>
              <a:sym typeface="+mn-ea"/>
            </a:endParaRPr>
          </a:p>
          <a:p>
            <a:r>
              <a:rPr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人脸识别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9.1 人脸检测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节主要内容：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基于Haar的人脸检测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基于深度学习的人脸检测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9.1.1  基于Haar的人脸检测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本小节使用OpenCV提供的Haar级联分类器来进行人脸检测。在OpenCV源代码中的“data\haarcascades”文件夹中包含训练好的Haar级联分类器文件，示例如下。</a:t>
            </a:r>
            <a:endParaRPr lang="zh-CN" altLang="en-US"/>
          </a:p>
          <a:p>
            <a:r>
              <a:rPr lang="zh-CN" altLang="en-US"/>
              <a:t>haarcascade_eye.xml：人眼检测。</a:t>
            </a:r>
            <a:endParaRPr lang="zh-CN" altLang="en-US"/>
          </a:p>
          <a:p>
            <a:r>
              <a:rPr lang="zh-CN" altLang="en-US"/>
              <a:t>haarcascade_eye_tree_eyeglasses.xml：眼镜检测。</a:t>
            </a:r>
            <a:endParaRPr lang="zh-CN" altLang="en-US"/>
          </a:p>
          <a:p>
            <a:r>
              <a:rPr lang="zh-CN" altLang="en-US"/>
              <a:t>haarcascade_frontalcatface.xml：猫脸检测。</a:t>
            </a:r>
            <a:endParaRPr lang="zh-CN" altLang="en-US"/>
          </a:p>
          <a:p>
            <a:r>
              <a:rPr lang="zh-CN" altLang="en-US"/>
              <a:t>haarcascade_frontalface_alt.xml：人脸检测。</a:t>
            </a:r>
            <a:endParaRPr lang="zh-CN" altLang="en-US"/>
          </a:p>
          <a:p>
            <a:r>
              <a:rPr lang="zh-CN" altLang="en-US"/>
              <a:t>haarcascade_frontalface_default.xml：人脸检测。</a:t>
            </a:r>
            <a:endParaRPr lang="zh-CN" altLang="en-US"/>
          </a:p>
          <a:p>
            <a:r>
              <a:rPr lang="zh-CN" altLang="en-US"/>
              <a:t>haarcascade_profileface.xml：侧脸检测。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/>
              <a:t>cv2.CascadeClassifier()函数用于加载分类器，其基本格式如下。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faceClassifier=cv2.CascadeClassifier(filename)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faceClassifier为返回的级联分类器对象。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filename为级联分类器的文件名。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级联分类器对象的detectMultiScale()方法用于执行检测，其基本格式如下。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objects=faceClassifier.detectMultiScale(image[,scaleFactor[,minNeighbors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[,flags[,minSize[,maxSize]]]]])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objects为返回的目标矩形，矩形中为人脸。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image为输入图像，通常为灰度图像。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scaleFactor为图像缩放比例。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minNeighbors为构成目标矩形的最少相邻矩形个数。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flags在低版本的OpenCV 1.x中使用，高版本中通常省略该参数。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minSize为目标矩形的最小尺寸。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maxSize为目标矩形的最大尺寸。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1．使用Haar级联分类器检测人脸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下面的代码使用haarcascade_frontalface_default.xml和haarcascade_eye.xml分类器检测图像中的人脸和眼睛。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#test9-1.py：使用Haar级联检测器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img=cv2.imread('heard.jpg')                         		#打开输入图像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 = cv2.cvtColor(img,cv2.COLOR_BGR2GRAY)         	#转换为灰度图像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#加载人脸检测器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face = cv2.CascadeClassifier('haarcascade_frontalface_default.xml')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#加载眼睛检测器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eye = cv2.CascadeClassifier('haarcascade_eye.xml')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faces = face.detectMultiScale(gray)			#执行人脸检测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for x,y,w,h in faces: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cv2.rectangle(img,(x,y),(x+w,y+h),(255,0,0),2)		#绘制矩形标注人脸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roi_eye = gray[y:y+h, x:x+w]            			#根据人脸获得眼睛的检测范围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eyes = eye.detectMultiScale(roi_eye)    			#在人脸范围内检测眼睛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for (ex,ey,ew,eh) in eyes: 				#标注眼睛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    cv2.circle(img[y:y+h, x:x+w],(int(ex+ew/2),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             int(ey+eh/2)),int(max(ew,eh)/2),(0,255,0),2)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cv2.imshow('face',img)                 				#显示检测结果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zh-CN" altLang="en-US"/>
              <a:t>2．使用Haar级联分类器检测猫脸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下面的代码使用haarcascade_frontalcatface.xml分类器检测图像中的猫脸。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#test9-2.py：使用Haar级联检测器检测猫脸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img=cv2.imread('cat.jpg')                        		</a:t>
            </a:r>
            <a:r>
              <a:rPr lang="en-US" altLang="zh-CN"/>
              <a:t>		</a:t>
            </a:r>
            <a:r>
              <a:rPr lang="zh-CN" altLang="en-US"/>
              <a:t>#打开输入图像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gray = cv2.cvtColor(img,cv2.COLOR_BGR2GRAY)         	</a:t>
            </a:r>
            <a:r>
              <a:rPr lang="en-US" altLang="zh-CN"/>
              <a:t>	</a:t>
            </a:r>
            <a:r>
              <a:rPr lang="zh-CN" altLang="en-US"/>
              <a:t>#转换为灰度图像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#加载猫脸检测器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face = cv2.CascadeClassifier('haarcascade_frontalcatface.xml')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faces = face.detectMultiScale(gray)					#执行猫脸检测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for x,y,w,h in faces: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cv2.rectangle(img,(x,y),(x+w,y+h),(255,0,0),2)		</a:t>
            </a:r>
            <a:r>
              <a:rPr lang="en-US" altLang="zh-CN"/>
              <a:t>	</a:t>
            </a:r>
            <a:r>
              <a:rPr lang="zh-CN" altLang="en-US"/>
              <a:t>#绘制矩形标注猫脸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cv2.imshow('faces',img)                           		</a:t>
            </a:r>
            <a:r>
              <a:rPr lang="en-US" altLang="zh-CN"/>
              <a:t>		</a:t>
            </a:r>
            <a:r>
              <a:rPr lang="zh-CN" altLang="en-US"/>
              <a:t>#显示检测结果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cv2.waitKey(0)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3．使用Haar级联分类器检测摄像头视频中的人脸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Haar级联分类器也可用于检测视频中的人脸，示例代码如下。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#test9-3.py：检测摄像头视频中的人脸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import cv2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capture = cv2.VideoCapture(0)   				#创建视频捕捉器对象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if not capture.isOpened: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print('不能打开摄像头')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exit(0)                     					#不能打开摄像头时结束程序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#加载人脸检测器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face = cv2.CascadeClassifier('haarcascade_frontalface_default.xml')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#加载眼睛检测器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eye = cv2.CascadeClassifier('haarcascade_eye.xml')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while True: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ret, frame = capture.read()                             	</a:t>
            </a:r>
            <a:r>
              <a:rPr lang="en-US" altLang="zh-CN" sz="1200"/>
              <a:t>	</a:t>
            </a:r>
            <a:r>
              <a:rPr lang="zh-CN" altLang="en-US" sz="1200"/>
              <a:t>#读摄像头的帧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if frame is None: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    break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gray = cv2.cvtColor(frame,cv2.COLOR_BGR2GRAY)           	#转换为灰度图像    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faces = face.detectMultiScale(gray)                     	</a:t>
            </a:r>
            <a:r>
              <a:rPr lang="en-US" altLang="zh-CN" sz="1200"/>
              <a:t>	</a:t>
            </a:r>
            <a:r>
              <a:rPr lang="zh-CN" altLang="en-US" sz="1200"/>
              <a:t>#执行人脸检测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for x,y,w,h in faces: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    cv2.rectangle(frame,(x,y),(x+w,y+h),(255,0,0),2)		#绘制矩形标注人脸      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    roi_eye = gray[y:y+h, x:x+w]                			#根据人脸获得眼睛的检测范围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    eyes = eye.detectMultiScale(roi_eye)       			#在人脸范围内检测眼睛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    for (ex,ey,ew,eh) in eyes:                    		</a:t>
            </a:r>
            <a:r>
              <a:rPr lang="en-US" altLang="zh-CN" sz="1200"/>
              <a:t>	</a:t>
            </a:r>
            <a:r>
              <a:rPr lang="zh-CN" altLang="en-US" sz="1200"/>
              <a:t>#标注眼睛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        cv2.circle(frame[y:y+h, x:x+w],(int(ex+ew/2),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             int(ey+eh/2)),int(max(ew,eh)/2),(0,255,0),2)  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cv2.imshow('faces',frame)                          		</a:t>
            </a:r>
            <a:r>
              <a:rPr lang="en-US" altLang="zh-CN" sz="1200"/>
              <a:t>	</a:t>
            </a:r>
            <a:r>
              <a:rPr lang="zh-CN" altLang="en-US" sz="1200"/>
              <a:t>#显示帧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key = cv2.waitKey(30)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if key == 27:         	                             		#按【Esc】键结束程序</a:t>
            </a:r>
            <a:endParaRPr lang="zh-CN" altLang="en-US" sz="120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200"/>
              <a:t>        break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9.1.2  基于深度学习的人脸检测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OpenCV的深度神经网络（Deep Neural Network，DNN）模块提供了基于深度学习的人脸检测器。DNN模块中使用了广受欢迎的深度学习框架，包括Caffe、TensorFlow、Torch和Darknet等。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OpenCV提供了两个预训练的人脸检测模型：Caffe和TensorFlow模型。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Caffe模型需加载以下两个文件。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deploy.prototxt：定义模型结构的配置文件。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res10_300x300_ssd_iter_140000_fp16.caffemodel：包含实际层权重的训练模型文件。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TensorFlow模型需加载以下两个文件。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opencv_face_detector.pbtxt：定义模型结构的配置文件。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opencv_face_detector_uint8.pb：包含实际层权重的训练模型文件。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在OpenCV源代码的“sources\samples\dnn\face_detector”文件夹中提供了模型配置文件，但未提供训练模型文件。可运行该文件夹中的download_weights.py下载上述的两个训练模型文件。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使用预训练的模型执行人脸检测时主要包含下列步骤。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（1）调用cv2.dnn.readNetFromCaffe()或cv2.dnn.readNetFromTensorflow()函数加载模型，创建检测器。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（2）调用cv2.dnn.blobFromImage()函数将待检测图像转换为图像块数据。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（3）调用检测器的setInput()方法将图像块数据设置为模型的输入数据。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（4）调用检测器的forward()方法执行计算，获得预测结果。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（5）将可信度高于指定值的预测结果作为检测结果，在原图像中标注人脸，同时输出可信度作为参考。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5000"/>
          </a:bodyPr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#test9-4.py：DNN人脸检测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from matplotlib import pyplot as plt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dnnnet = cv2.dnn.readNetFromCaffe("deploy.prototxt", 		#加载训练好的模型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            "res10_300x300_ssd_iter_140000_fp16.caffemodel")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img = cv2.imread("heard.jpg")                        		</a:t>
            </a:r>
            <a:r>
              <a:rPr lang="en-US" altLang="zh-CN"/>
              <a:t>	</a:t>
            </a:r>
            <a:r>
              <a:rPr lang="zh-CN" altLang="en-US"/>
              <a:t>#读取图像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h, w = img.shape[:2]                                			#获得图像尺寸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blobs = cv2.dnn.blobFromImage(img,1.0,(300,300),		#创建图像的块数据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               [104., 117., 123.], False, False)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dnnnet.setInput(blobs)                      				#将块数据设置为输入数据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detections = dnnnet.forward()              			#执行计算，获得预测结果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faces = 0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for i in range(0, detections.shape[2]): 				#迭代，输出可信度高的人脸检测结果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confidence = detections[0, 0, i, 2] 				#获得可信度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if confidence &gt; 0.8:                				#输出可信度高于80%的结果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faces += 1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box = detections[0,0,i,3:7]*np.array([w,h,w,h]) 		#获得人脸在图像中的坐标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x1,y1,x2,y2 = box.astype("int")        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y = y1 - 10 if y1 - 10 &gt; 10 else y1 + 10         	</a:t>
            </a:r>
            <a:r>
              <a:rPr lang="en-US" altLang="zh-CN"/>
              <a:t>	</a:t>
            </a:r>
            <a:r>
              <a:rPr lang="zh-CN" altLang="en-US"/>
              <a:t>#计算可信度输出位置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text = "%.3f"%(confidence * 100)+'%'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cv2.rectangle(img,(x1,y1),(x2,y2),(255,0,0),2)		#标注人脸范围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cv2.putText(img,text, (x1+20, y),            		</a:t>
            </a:r>
            <a:r>
              <a:rPr lang="en-US" altLang="zh-CN"/>
              <a:t>	</a:t>
            </a:r>
            <a:r>
              <a:rPr lang="zh-CN" altLang="en-US"/>
              <a:t>#输出可信度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                cv2.FONT_HERSHEY_SIMPLEX, 0.9, (0, 0, 255), 2)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cv2.imshow('faces',img)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cv2.waitKey(0)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9.2 人脸识别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节主要内容：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EigenFaces人脸识别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FisherFaces人脸识别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LBPH人脸识别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9.2.1  EigenFaces人脸识别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EigenFaces 使用主要成分分析（Principal Component Analysis，PCA）方法将人脸数据从高维处理成低维后，获得人脸数据的主要成分信息，进而完成人脸识别。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EigenFaces人脸识别的基本步骤如下。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（1）调用cv2.face.EigenFaceRecognizer_create()方法创建EigenFaces识别器。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（2）调用识别器的train()方法用已知图像训练模型。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（3）调用识别器的predict()方法用未知图像进行识别，确认其身份。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cv2.face.EigenFaceRecognizer_create()函数的基本格式如下。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recognizer=cv2.face.EigenFaceRecognizer_create([num_components[,threshold]])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recognizer为返回的EigenFaces识别器对象。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num_components为分析时的分量个数；默认为0，表示根据实际输入决定。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threshold为人脸识别时采用的阈值。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EigenFaces识别器train()方法的基本格式如下。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recognizer.train(src,labels)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src为用于训练的已知图像数组。所有图像必须为灰度图像，且大小要相同。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labels为标签数组，与已知图像数组中的人脸一一对应，同一个人的人脸标签应设置为相同值。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EigenFaces识别器predict()方法的基本格式如下。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label,confidence=recognizer.predict(testimg)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testimg为未知人脸图像，必须为灰度图像，且与训练图像大小相同。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label为返回的标签值。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confidence为返回的可信度，表示未知人脸和模型中已知人脸之间的距离。0表示完全匹配，低于5000可认为是可靠的匹配结果。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#test9-5.py：EigenFaces人脸识别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img11=cv2.imread('xl11.jpg',0)                         	</a:t>
            </a:r>
            <a:r>
              <a:rPr lang="en-US" altLang="zh-CN"/>
              <a:t>	</a:t>
            </a:r>
            <a:r>
              <a:rPr lang="zh-CN" altLang="en-US"/>
              <a:t>#打开图像，灰度图像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img12=cv2.imread('xl12.jpg',0)                         	</a:t>
            </a:r>
            <a:r>
              <a:rPr lang="en-US" altLang="zh-CN"/>
              <a:t>	</a:t>
            </a:r>
            <a:r>
              <a:rPr lang="zh-CN" altLang="en-US"/>
              <a:t>#打开图像，灰度图像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img13=cv2.imread('xl13.jpg',0)                         	</a:t>
            </a:r>
            <a:r>
              <a:rPr lang="en-US" altLang="zh-CN"/>
              <a:t>	</a:t>
            </a:r>
            <a:r>
              <a:rPr lang="zh-CN" altLang="en-US"/>
              <a:t>#打开图像，灰度图像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img21=cv2.imread('xl21.jpg',0)                         	</a:t>
            </a:r>
            <a:r>
              <a:rPr lang="en-US" altLang="zh-CN"/>
              <a:t>	</a:t>
            </a:r>
            <a:r>
              <a:rPr lang="zh-CN" altLang="en-US"/>
              <a:t>#打开图像，灰度图像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img22=cv2.imread('xl22.jpg',0)                         	</a:t>
            </a:r>
            <a:r>
              <a:rPr lang="en-US" altLang="zh-CN"/>
              <a:t>	</a:t>
            </a:r>
            <a:r>
              <a:rPr lang="zh-CN" altLang="en-US"/>
              <a:t>#打开图像，灰度图像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img23=cv2.imread('xl23.jpg',0)                         	</a:t>
            </a:r>
            <a:r>
              <a:rPr lang="en-US" altLang="zh-CN"/>
              <a:t>	</a:t>
            </a:r>
            <a:r>
              <a:rPr lang="zh-CN" altLang="en-US"/>
              <a:t>#打开图像，灰度图像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train_images=[img11,img12,img13,img21,img22,img23]  	#创建训练图像数组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labels=np.array([0,0,0,1,1,1]) 			#创建标签数组，0和1表示训练图像数组中人脸的身份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recognizer=cv2.face.EigenFaceRecognizer_create()		#创建FisherFaces识别器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recognizer.train(train_images,labels)          		#执行训练操作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testimg=cv2.imread('test1.jpg',0)                   		#打开测试图像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label,confidence=recognizer.predict(testimg)        	</a:t>
            </a:r>
            <a:r>
              <a:rPr lang="en-US" altLang="zh-CN"/>
              <a:t>	</a:t>
            </a:r>
            <a:r>
              <a:rPr lang="zh-CN" altLang="en-US"/>
              <a:t>#识别人脸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print('匹配标签：',label)				#输出识别结果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print('可信度：',confidence)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9.2.2  FisherFaces人脸识别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FisherFaces使用线性判别分析（Linear Discriminant Analysis，LDA）方法实现人脸识别。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FisherFaces人脸识别的基本步骤如下。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（1）调用cv2.face.FisherFaceRecognizer_create()函数创建FisherFaces识别器。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（2）调用识别器的train()方法用已知图像训练模型。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（3）调用识别器的predict()方法用未知图像进行识别，确认其身份。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在OpenCV中，cv2.face.EigenFaceRecognizer类和cv2.face.FisherFaceRecognizer类同属于cv2.face.BasicFaceRecognizer类、cv2.face.FaceRecognizer类和cv2.Algorithm类的子类，对应的xxx_create()、train()和predict()等方法的基本格式与用法相同。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#test9-6.py：FisherFaces人脸识别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#读入训练图像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img11=cv2.imread('xl11.jpg',0)                         	</a:t>
            </a:r>
            <a:r>
              <a:rPr lang="en-US" altLang="zh-CN"/>
              <a:t>	</a:t>
            </a:r>
            <a:r>
              <a:rPr lang="zh-CN" altLang="en-US"/>
              <a:t>#打开图像，灰度图像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img12=cv2.imread('xl12.jpg',0)                         	</a:t>
            </a:r>
            <a:r>
              <a:rPr lang="en-US" altLang="zh-CN"/>
              <a:t>	</a:t>
            </a:r>
            <a:r>
              <a:rPr lang="zh-CN" altLang="en-US"/>
              <a:t>#打开图像，灰度图像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img13=cv2.imread('xl13.jpg',0)                         </a:t>
            </a:r>
            <a:r>
              <a:rPr lang="en-US" altLang="zh-CN"/>
              <a:t>	</a:t>
            </a:r>
            <a:r>
              <a:rPr lang="zh-CN" altLang="en-US"/>
              <a:t>	#打开图像，灰度图像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img21=cv2.imread('xl21.jpg',0)                       </a:t>
            </a:r>
            <a:r>
              <a:rPr lang="en-US" altLang="zh-CN"/>
              <a:t>	</a:t>
            </a:r>
            <a:r>
              <a:rPr lang="zh-CN" altLang="en-US"/>
              <a:t>  	#打开图像，灰度图像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img22=cv2.imread('xl22.jpg',0)                        </a:t>
            </a:r>
            <a:r>
              <a:rPr lang="en-US" altLang="zh-CN"/>
              <a:t>	</a:t>
            </a:r>
            <a:r>
              <a:rPr lang="zh-CN" altLang="en-US"/>
              <a:t> 	#打开图像，灰度图像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img23=cv2.imread('xl23.jpg',0)                         </a:t>
            </a:r>
            <a:r>
              <a:rPr lang="en-US" altLang="zh-CN"/>
              <a:t>	</a:t>
            </a:r>
            <a:r>
              <a:rPr lang="zh-CN" altLang="en-US"/>
              <a:t>	#打开图像，灰度图像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train_images=[img11,img12,img13,img21,img22,img23]  	#创建训练图像数组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labels=np.array([0,0,0,1,1,1])			#创建标签数组，0和1表示训练图像数组中人脸的身份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recognizer=cv2.face.FisherFaceRecognizer_create()		#创建FisherFaces识别器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recognizer.train(train_images,labels)              		#执行训练操作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testimg=cv2.imread('test1.jpg',0)                   		#打开测试图像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label,confidence=recognizer.predict(testimg)       	</a:t>
            </a:r>
            <a:r>
              <a:rPr lang="en-US" altLang="zh-CN"/>
              <a:t>	</a:t>
            </a:r>
            <a:r>
              <a:rPr lang="zh-CN" altLang="en-US"/>
              <a:t>#识别人脸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print('匹配标签：',label)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print('可信程度：',confidence)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9.2.3  LBPH人脸识别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824220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/>
              <a:t>LBP</a:t>
            </a:r>
            <a:r>
              <a:rPr lang="en-US" altLang="zh-CN"/>
              <a:t>H</a:t>
            </a:r>
            <a:r>
              <a:rPr lang="zh-CN" altLang="en-US"/>
              <a:t>算法处理图像的基本原理如下。</a:t>
            </a:r>
            <a:endParaRPr lang="zh-CN" altLang="en-US"/>
          </a:p>
          <a:p>
            <a:r>
              <a:rPr lang="zh-CN" altLang="en-US"/>
              <a:t>取像素x周围（邻域）的8个像素与其比较，像素值比像素x大的取0，否则取1。将8个像素对应的0、1连接得到一个8位二进制数，将其转换为十进制数，作为像素x的LBP值。</a:t>
            </a:r>
            <a:endParaRPr lang="zh-CN" altLang="en-US"/>
          </a:p>
          <a:p>
            <a:r>
              <a:rPr lang="zh-CN" altLang="en-US"/>
              <a:t>对图像的所有像素按相同的方法进行处理，得到整个图像的LBP图像，该图像的直方图就是图像的LBPH。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LBPH人脸识别的基本步骤如下。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（1）调用cv2.face.LBPHFaceRecognizer_create()函数创建LBPH识别器。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（2）调用识别器的train()方法以便使用已知图像训练模型。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（3）调用识别器的predict()方法以便使用未知图像进行识别，确认其身份。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cv2.face.LBPHFaceRecognizer_create()函数的基本格式如下。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recognizer= cv2.face.LBPHFaceRecognizer_create([,radius[,neighbors[,grid_x[,grid_y[,threshold]]]]])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参数说明如下。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	recognizer为返回的LBPH识别器对象。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	radius为邻域的半径大小。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	neighbors为邻域内像素点的数量，默认为8。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	grid_x为将LBP图像划分为多个单元格时，水平方向上的单元格数量，默认为8。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	grid_y为将LBP图像划分为多个单元格时，垂直方向上的单元格数量，默认为8。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	threshold为人脸识别时采用的阈值。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LBPH识别器train()方法的基本格式如下。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recognizer.train(src,labels)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src为用于训练的已知图像数组。所有图像必须为灰度图像，且大小要相同。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labels为标签数组，与已知图像数组中的人脸一一对应，同一个人的人脸标签应设置为相同值。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LBPH识别器predict()方法的基本格式如下。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label,confidence=recognizer.predict(testimg)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testimg为未知人脸图像，必须为灰度图像，且与训练图像大小相同。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label为返回的识别标签值。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	confidence为返回的可信程度，表示未知人脸和模型中已知人脸之间的距离。0表示完全匹配，低于50可认为是非常可靠的匹配结果。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示例代码如下。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#test9-7.py：LBPH人脸识别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import cv2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import numpy as np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#读入训练图像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img11=cv2.imread('xl11.jpg',0)                         	#打开图像，灰度图像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img12=cv2.imread('xl12.jpg',0)                         	#打开图像，灰度图像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img13=cv2.imread('xl13.jpg',0)                         	#打开图像，灰度图像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img21=cv2.imread('xl21.jpg',0)                         	#打开图像，灰度图像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img22=cv2.imread('xl22.jpg',0)                         	#打开图像，灰度图像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img23=cv2.imread('xl23.jpg',0)                         	#打开图像，灰度图像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train_images=[img11,img12,img13,img21,img22,img23] 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#创建训练图像数组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labels=np.array([0,0,0,1,1,1])		#创建标签数组，0和1表示训练图像数组中人脸的身份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recognizer=cv2.face.LBPHFaceRecognizer_create()	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#创建LBPH识别器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recognizer.train(train_images,labels)                   #执行训练操作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testimg=cv2.imread('test2.jpg',0)                       #打开测试图像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label,confidence=recognizer.predict(testimg)            #识别人脸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print('匹配标签：',label)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print('可信程度：',confidence)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9.3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节主要内容：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实验1：使用Haar级联检测器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实验2：使用EigenFaces人脸识别器	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9.3.1  实验1：使用Haar级联检测器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1．实验目的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进一步掌握使用Haar级联检测器检测人脸的基本方法。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2．实验内容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使用Haar级联检测器检测图9-8所示图像中的人脸。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3．实验过程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4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4325" y="2780665"/>
            <a:ext cx="4617720" cy="256095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9.3.2  实验2：使用EigenFaces人脸识别器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1．实验目的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进一步掌握使用EigenFaces人脸识别器的基本方法。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2．实验内容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使用EigenFaces人脸识别器对图9-10所示的图像（两个人，每人两张人脸图像）执行模型训练，用图9-11所示的两幅人脸图像作为测试图像，完成人脸识别操作。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3．实验过程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135" y="3140710"/>
            <a:ext cx="6642100" cy="15919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  <a:endParaRPr lang="zh-CN" altLang="en-US" dirty="0"/>
          </a:p>
        </p:txBody>
      </p:sp>
      <p:sp>
        <p:nvSpPr>
          <p:cNvPr id="73" name="矩形 72"/>
          <p:cNvSpPr/>
          <p:nvPr>
            <p:custDataLst>
              <p:tags r:id="rId2"/>
            </p:custDataLst>
          </p:nvPr>
        </p:nvSpPr>
        <p:spPr>
          <a:xfrm rot="5400000">
            <a:off x="10613165" y="5800107"/>
            <a:ext cx="1123022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202X</a:t>
            </a:r>
            <a:endParaRPr lang="en-US" altLang="zh-CN" sz="2800" baseline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SLIDE_BACKGROUND_MASK_FLAG" val="1"/>
  <p:tag name="KSO_WM_UNIT_SUBTYPE" val="q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2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633"/>
  <p:tag name="KSO_WM_TEMPLATE_THUMBS_INDEX" val="1、4、7、8、9、10、11、12、13、14、15"/>
  <p:tag name="KSO_WM_TEMPLATE_MASTER_THUMB_INDEX" val="12"/>
</p:tagLst>
</file>

<file path=ppt/tags/tag252.xml><?xml version="1.0" encoding="utf-8"?>
<p:tagLst xmlns:p="http://schemas.openxmlformats.org/presentationml/2006/main">
  <p:tag name="KSO_WM_TEMPLATE_CATEGORY" val=""/>
  <p:tag name="KSO_WM_TEMPLATE_INDEX" val="20202633"/>
</p:tagLst>
</file>

<file path=ppt/tags/tag253.xml><?xml version="1.0" encoding="utf-8"?>
<p:tagLst xmlns:p="http://schemas.openxmlformats.org/presentationml/2006/main">
  <p:tag name="KSO_WM_TEMPLATE_CATEGORY" val=""/>
  <p:tag name="KSO_WM_TEMPLATE_INDEX" val="20202633"/>
</p:tagLst>
</file>

<file path=ppt/tags/tag254.xml><?xml version="1.0" encoding="utf-8"?>
<p:tagLst xmlns:p="http://schemas.openxmlformats.org/presentationml/2006/main">
  <p:tag name="KSO_WM_TEMPLATE_CATEGORY" val=""/>
  <p:tag name="KSO_WM_TEMPLATE_INDEX" val="20202633"/>
</p:tagLst>
</file>

<file path=ppt/tags/tag25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56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5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5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59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1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2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3.xml><?xml version="1.0" encoding="utf-8"?>
<p:tagLst xmlns:p="http://schemas.openxmlformats.org/presentationml/2006/main">
  <p:tag name="KSO_WM_TEMPLATE_CATEGORY" val=""/>
  <p:tag name="KSO_WM_TEMPLATE_INDEX" val="20202633"/>
</p:tagLst>
</file>

<file path=ppt/tags/tag264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6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9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7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71.xml><?xml version="1.0" encoding="utf-8"?>
<p:tagLst xmlns:p="http://schemas.openxmlformats.org/presentationml/2006/main">
  <p:tag name="KSO_WM_TEMPLATE_CATEGORY" val=""/>
  <p:tag name="KSO_WM_TEMPLATE_INDEX" val="20202633"/>
</p:tagLst>
</file>

<file path=ppt/tags/tag272.xml><?xml version="1.0" encoding="utf-8"?>
<p:tagLst xmlns:p="http://schemas.openxmlformats.org/presentationml/2006/main">
  <p:tag name="KSO_WM_TEMPLATE_CATEGORY" val=""/>
  <p:tag name="KSO_WM_TEMPLATE_INDEX" val="20202633"/>
</p:tagLst>
</file>

<file path=ppt/tags/tag273.xml><?xml version="1.0" encoding="utf-8"?>
<p:tagLst xmlns:p="http://schemas.openxmlformats.org/presentationml/2006/main">
  <p:tag name="KSO_WM_TEMPLATE_CATEGORY" val=""/>
  <p:tag name="KSO_WM_TEMPLATE_INDEX" val="20202633"/>
</p:tagLst>
</file>

<file path=ppt/tags/tag274.xml><?xml version="1.0" encoding="utf-8"?>
<p:tagLst xmlns:p="http://schemas.openxmlformats.org/presentationml/2006/main">
  <p:tag name="KSO_WM_TEMPLATE_CATEGORY" val=""/>
  <p:tag name="KSO_WM_TEMPLATE_INDEX" val="20202633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33_15*a*1"/>
  <p:tag name="KSO_WM_TEMPLATE_CATEGORY" val="custom"/>
  <p:tag name="KSO_WM_TEMPLATE_INDEX" val="20202633"/>
  <p:tag name="KSO_WM_UNIT_LAYERLEVEL" val="1"/>
  <p:tag name="KSO_WM_TAG_VERSION" val="1.0"/>
  <p:tag name="KSO_WM_BEAUTIFY_FLAG" val="#wm#"/>
  <p:tag name="KSO_WM_UNIT_ISCONTENTSTITLE" val="0"/>
  <p:tag name="KSO_WM_UNIT_NOCLEAR" val="1"/>
  <p:tag name="KSO_WM_UNIT_VALUE" val="6"/>
  <p:tag name="KSO_WM_UNIT_TYPE" val="a"/>
  <p:tag name="KSO_WM_UNIT_INDEX" val="1"/>
  <p:tag name="KSO_WM_UNIT_PRESET_TEXT" val="谢谢观看"/>
  <p:tag name="KSO_WM_UNIT_ISNUMDGMTITLE" val="0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33_15*i*1"/>
  <p:tag name="KSO_WM_TEMPLATE_CATEGORY" val="custom"/>
  <p:tag name="KSO_WM_TEMPLATE_INDEX" val="20202633"/>
  <p:tag name="KSO_WM_UNIT_LAYERLEVEL" val="1"/>
  <p:tag name="KSO_WM_TAG_VERSION" val="1.0"/>
  <p:tag name="KSO_WM_BEAUTIFY_FLAG" val="#wm#"/>
  <p:tag name="KSO_WM_UNIT_TYPE" val="i"/>
  <p:tag name="KSO_WM_UNIT_INDEX" val="1"/>
  <p:tag name="KSO_WM_UNIT_PRESET_TEXT" val="202X"/>
</p:tagLst>
</file>

<file path=ppt/tags/tag277.xml><?xml version="1.0" encoding="utf-8"?>
<p:tagLst xmlns:p="http://schemas.openxmlformats.org/presentationml/2006/main">
  <p:tag name="KSO_WM_SLIDE_ID" val="custom20202633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33"/>
  <p:tag name="KSO_WM_SLIDE_TYPE" val="endPage"/>
  <p:tag name="KSO_WM_SLIDE_SUBTYPE" val="pureTxt"/>
  <p:tag name="KSO_WM_SLIDE_LAYOUT" val="a_b"/>
  <p:tag name="KSO_WM_SLIDE_LAYOUT_CNT" val="1_1"/>
</p:tagLst>
</file>

<file path=ppt/theme/theme1.xml><?xml version="1.0" encoding="utf-8"?>
<a:theme xmlns:a="http://schemas.openxmlformats.org/drawingml/2006/main" name="2_Office 主题​​">
  <a:themeElements>
    <a:clrScheme name="渐变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4F4EFC"/>
      </a:accent1>
      <a:accent2>
        <a:srgbClr val="5B97FA"/>
      </a:accent2>
      <a:accent3>
        <a:srgbClr val="67DCFD"/>
      </a:accent3>
      <a:accent4>
        <a:srgbClr val="6CFDDC"/>
      </a:accent4>
      <a:accent5>
        <a:srgbClr val="6AFE9A"/>
      </a:accent5>
      <a:accent6>
        <a:srgbClr val="6AFF60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办公室主题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TM03090430[[fn=带状]]</Template>
  <TotalTime>0</TotalTime>
  <Words>10705</Words>
  <Application>WPS 演示</Application>
  <PresentationFormat>自定义</PresentationFormat>
  <Paragraphs>327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汉仪旗黑-85S</vt:lpstr>
      <vt:lpstr>方正楷体简体</vt:lpstr>
      <vt:lpstr>方正姚体</vt:lpstr>
      <vt:lpstr>Arial Unicode MS</vt:lpstr>
      <vt:lpstr>Palatino Linotype</vt:lpstr>
      <vt:lpstr>2_Office 主题​​</vt:lpstr>
      <vt:lpstr>OpenCV计算机视觉基础教程</vt:lpstr>
      <vt:lpstr>第9章   人脸检测和识别</vt:lpstr>
      <vt:lpstr>9.1 人脸检测</vt:lpstr>
      <vt:lpstr>9.1.1  基于Haar的人脸检测 </vt:lpstr>
      <vt:lpstr>PowerPoint 演示文稿</vt:lpstr>
      <vt:lpstr>PowerPoint 演示文稿</vt:lpstr>
      <vt:lpstr>PowerPoint 演示文稿</vt:lpstr>
      <vt:lpstr>PowerPoint 演示文稿</vt:lpstr>
      <vt:lpstr>9.1.2  基于深度学习的人脸检测 </vt:lpstr>
      <vt:lpstr>PowerPoint 演示文稿</vt:lpstr>
      <vt:lpstr>PowerPoint 演示文稿</vt:lpstr>
      <vt:lpstr>9.2 人脸识别</vt:lpstr>
      <vt:lpstr>9.2.1  EigenFaces人脸识别 </vt:lpstr>
      <vt:lpstr>PowerPoint 演示文稿</vt:lpstr>
      <vt:lpstr>PowerPoint 演示文稿</vt:lpstr>
      <vt:lpstr>9.2.2  FisherFaces人脸识别 </vt:lpstr>
      <vt:lpstr>PowerPoint 演示文稿</vt:lpstr>
      <vt:lpstr>9.2.3  LBPH人脸识别 </vt:lpstr>
      <vt:lpstr>PowerPoint 演示文稿</vt:lpstr>
      <vt:lpstr>PowerPoint 演示文稿</vt:lpstr>
      <vt:lpstr>9.3 实验</vt:lpstr>
      <vt:lpstr>9.3.1  实验1：使用Haar级联检测器</vt:lpstr>
      <vt:lpstr>9.3.2  实验2：使用EigenFaces人脸识别器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Python3基础教程</dc:title>
  <dc:creator>china xbg</dc:creator>
  <cp:lastModifiedBy>小新</cp:lastModifiedBy>
  <cp:revision>28</cp:revision>
  <dcterms:created xsi:type="dcterms:W3CDTF">2019-11-26T13:46:00Z</dcterms:created>
  <dcterms:modified xsi:type="dcterms:W3CDTF">2021-06-16T15:16:04Z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9CBD9D2472074812AD158735AE45062F</vt:lpwstr>
  </property>
  <property fmtid="{D5CDD505-2E9C-101B-9397-08002B2CF9AE}" pid="3" name="KSOProductBuildVer">
    <vt:lpwstr>2052-11.1.0.10577</vt:lpwstr>
  </property>
</Properties>
</file>